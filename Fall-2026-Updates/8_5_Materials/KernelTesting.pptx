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Lst>
  <p:notesMasterIdLst>
    <p:notesMasterId r:id="rId7"/>
  </p:notesMasterIdLst>
  <p:sldIdLst>
    <p:sldId id="3588" r:id="rId3"/>
    <p:sldId id="3621" r:id="rId4"/>
    <p:sldId id="3622" r:id="rId5"/>
    <p:sldId id="3623"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76" autoAdjust="0"/>
    <p:restoredTop sz="74795" autoAdjust="0"/>
  </p:normalViewPr>
  <p:slideViewPr>
    <p:cSldViewPr snapToGrid="0">
      <p:cViewPr varScale="1">
        <p:scale>
          <a:sx n="93" d="100"/>
          <a:sy n="93" d="100"/>
        </p:scale>
        <p:origin x="294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97E26-78EB-8B41-8DC9-A0EBC93E0939}" type="datetimeFigureOut">
              <a:rPr lang="en-US" smtClean="0"/>
              <a:t>9/21/26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4238-4DD6-0C4F-824F-F66E32D856F9}" type="slidenum">
              <a:rPr lang="en-US" smtClean="0"/>
              <a:t>‹#›</a:t>
            </a:fld>
            <a:endParaRPr lang="en-US"/>
          </a:p>
        </p:txBody>
      </p:sp>
    </p:spTree>
    <p:extLst>
      <p:ext uri="{BB962C8B-B14F-4D97-AF65-F5344CB8AC3E}">
        <p14:creationId xmlns:p14="http://schemas.microsoft.com/office/powerpoint/2010/main" val="204170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and thank you for being here at my thesis presentation, I will be talking today about my </a:t>
            </a:r>
            <a:r>
              <a:rPr lang="en-US" err="1"/>
              <a:t>phd</a:t>
            </a:r>
            <a:r>
              <a:rPr lang="en-US"/>
              <a:t> work on machine learning and computational modeling for genomics data, specifically genomics data from pancreatic ductal adenocarcinoma</a:t>
            </a:r>
          </a:p>
        </p:txBody>
      </p:sp>
      <p:sp>
        <p:nvSpPr>
          <p:cNvPr id="4" name="Slide Number Placeholder 3"/>
          <p:cNvSpPr>
            <a:spLocks noGrp="1"/>
          </p:cNvSpPr>
          <p:nvPr>
            <p:ph type="sldNum" sz="quarter" idx="5"/>
          </p:nvPr>
        </p:nvSpPr>
        <p:spPr/>
        <p:txBody>
          <a:bodyPr/>
          <a:lstStyle/>
          <a:p>
            <a:fld id="{1A460FFB-2BFB-0142-99F5-9D8A966BF058}" type="slidenum">
              <a:rPr lang="en-US" smtClean="0"/>
              <a:t>1</a:t>
            </a:fld>
            <a:endParaRPr lang="en-US"/>
          </a:p>
        </p:txBody>
      </p:sp>
    </p:spTree>
    <p:extLst>
      <p:ext uri="{BB962C8B-B14F-4D97-AF65-F5344CB8AC3E}">
        <p14:creationId xmlns:p14="http://schemas.microsoft.com/office/powerpoint/2010/main" val="170685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2</a:t>
            </a:fld>
            <a:endParaRPr lang="en-US"/>
          </a:p>
        </p:txBody>
      </p:sp>
    </p:spTree>
    <p:extLst>
      <p:ext uri="{BB962C8B-B14F-4D97-AF65-F5344CB8AC3E}">
        <p14:creationId xmlns:p14="http://schemas.microsoft.com/office/powerpoint/2010/main" val="1996327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C655F-B330-A64D-7038-ED6ABC9BA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CDEDC-A2A9-951A-1D15-E4316E438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F705B-68FA-F4E4-6818-0F7A093332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11F6ECD8-9318-E2DB-9C3E-7ADEB3F3FD81}"/>
              </a:ext>
            </a:extLst>
          </p:cNvPr>
          <p:cNvSpPr>
            <a:spLocks noGrp="1"/>
          </p:cNvSpPr>
          <p:nvPr>
            <p:ph type="sldNum" sz="quarter" idx="5"/>
          </p:nvPr>
        </p:nvSpPr>
        <p:spPr/>
        <p:txBody>
          <a:bodyPr/>
          <a:lstStyle/>
          <a:p>
            <a:fld id="{B314B106-72D9-394B-AE7F-13630EA62899}" type="slidenum">
              <a:rPr lang="en-US" smtClean="0"/>
              <a:t>3</a:t>
            </a:fld>
            <a:endParaRPr lang="en-US"/>
          </a:p>
        </p:txBody>
      </p:sp>
    </p:spTree>
    <p:extLst>
      <p:ext uri="{BB962C8B-B14F-4D97-AF65-F5344CB8AC3E}">
        <p14:creationId xmlns:p14="http://schemas.microsoft.com/office/powerpoint/2010/main" val="538246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56706-B486-7A2F-5EF5-E25DAB0D3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5F0D1-DE7E-683E-7FCE-D271609D7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D4657-4FCB-F899-6EAB-54D84B4556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70BAD08B-45E2-A2D5-444B-E26E81671DA0}"/>
              </a:ext>
            </a:extLst>
          </p:cNvPr>
          <p:cNvSpPr>
            <a:spLocks noGrp="1"/>
          </p:cNvSpPr>
          <p:nvPr>
            <p:ph type="sldNum" sz="quarter" idx="5"/>
          </p:nvPr>
        </p:nvSpPr>
        <p:spPr/>
        <p:txBody>
          <a:bodyPr/>
          <a:lstStyle/>
          <a:p>
            <a:fld id="{B314B106-72D9-394B-AE7F-13630EA62899}" type="slidenum">
              <a:rPr lang="en-US" smtClean="0"/>
              <a:t>4</a:t>
            </a:fld>
            <a:endParaRPr lang="en-US"/>
          </a:p>
        </p:txBody>
      </p:sp>
    </p:spTree>
    <p:extLst>
      <p:ext uri="{BB962C8B-B14F-4D97-AF65-F5344CB8AC3E}">
        <p14:creationId xmlns:p14="http://schemas.microsoft.com/office/powerpoint/2010/main" val="1151073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638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579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799761-2EBC-ED48-8421-93C3DA969FB7}" type="datetimeFigureOut">
              <a:rPr lang="en-US" smtClean="0"/>
              <a:pPr/>
              <a:t>9/21/26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014C056-413C-A641-A0AD-03006F1178CB}" type="slidenum">
              <a:rPr lang="en-US" smtClean="0"/>
              <a:pPr/>
              <a:t>‹#›</a:t>
            </a:fld>
            <a:endParaRPr lang="en-US"/>
          </a:p>
        </p:txBody>
      </p:sp>
    </p:spTree>
    <p:extLst>
      <p:ext uri="{BB962C8B-B14F-4D97-AF65-F5344CB8AC3E}">
        <p14:creationId xmlns:p14="http://schemas.microsoft.com/office/powerpoint/2010/main" val="1254031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76AEE-5F7C-0C4E-AB7D-BADB32FF08A3}" type="datetimeFigureOut">
              <a:rPr lang="en-US" smtClean="0"/>
              <a:pPr/>
              <a:t>9/21/26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13DF9-231C-E84E-B773-EA564B7737D7}" type="slidenum">
              <a:rPr lang="en-US" smtClean="0"/>
              <a:pPr/>
              <a:t>‹#›</a:t>
            </a:fld>
            <a:endParaRPr lang="en-US"/>
          </a:p>
        </p:txBody>
      </p:sp>
      <p:pic>
        <p:nvPicPr>
          <p:cNvPr id="7" name="Picture 6">
            <a:extLst>
              <a:ext uri="{FF2B5EF4-FFF2-40B4-BE49-F238E27FC236}">
                <a16:creationId xmlns:a16="http://schemas.microsoft.com/office/drawing/2014/main" id="{F5B8CDBB-FC5A-B9B0-4998-160B71ADB35F}"/>
              </a:ext>
            </a:extLst>
          </p:cNvPr>
          <p:cNvPicPr>
            <a:picLocks noChangeAspect="1"/>
          </p:cNvPicPr>
          <p:nvPr userDrawn="1"/>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12D53516-B803-A90F-456A-188118811DC9}"/>
              </a:ext>
            </a:extLst>
          </p:cNvPr>
          <p:cNvSpPr/>
          <p:nvPr userDrawn="1"/>
        </p:nvSpPr>
        <p:spPr>
          <a:xfrm>
            <a:off x="81280" y="5955665"/>
            <a:ext cx="1981200" cy="7658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descr="UMB SOM logo">
            <a:extLst>
              <a:ext uri="{FF2B5EF4-FFF2-40B4-BE49-F238E27FC236}">
                <a16:creationId xmlns:a16="http://schemas.microsoft.com/office/drawing/2014/main" id="{2206DAD5-CED7-A36A-9A85-A19B6228BB32}"/>
              </a:ext>
            </a:extLst>
          </p:cNvPr>
          <p:cNvPicPr>
            <a:picLocks noChangeAspect="1"/>
          </p:cNvPicPr>
          <p:nvPr userDrawn="1"/>
        </p:nvPicPr>
        <p:blipFill>
          <a:blip r:embed="rId4"/>
          <a:stretch>
            <a:fillRect/>
          </a:stretch>
        </p:blipFill>
        <p:spPr>
          <a:xfrm>
            <a:off x="285750" y="6065045"/>
            <a:ext cx="2204720" cy="579120"/>
          </a:xfrm>
          <a:prstGeom prst="rect">
            <a:avLst/>
          </a:prstGeom>
        </p:spPr>
      </p:pic>
    </p:spTree>
    <p:extLst>
      <p:ext uri="{BB962C8B-B14F-4D97-AF65-F5344CB8AC3E}">
        <p14:creationId xmlns:p14="http://schemas.microsoft.com/office/powerpoint/2010/main" val="277725144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8D7DAD-B32E-AC43-9C03-F04068BB252F}"/>
              </a:ext>
            </a:extLst>
          </p:cNvPr>
          <p:cNvPicPr>
            <a:picLocks noChangeAspect="1"/>
          </p:cNvPicPr>
          <p:nvPr userDrawn="1"/>
        </p:nvPicPr>
        <p:blipFill>
          <a:blip r:embed="rId4"/>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34067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9D31B73-2BAD-3AC6-B896-C76B4E467EE0}"/>
              </a:ext>
            </a:extLst>
          </p:cNvPr>
          <p:cNvSpPr/>
          <p:nvPr userDrawn="1"/>
        </p:nvSpPr>
        <p:spPr>
          <a:xfrm>
            <a:off x="325120" y="5689600"/>
            <a:ext cx="1950720" cy="772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itle Placeholder 10">
            <a:extLst>
              <a:ext uri="{FF2B5EF4-FFF2-40B4-BE49-F238E27FC236}">
                <a16:creationId xmlns:a16="http://schemas.microsoft.com/office/drawing/2014/main" id="{855A138D-ACB1-D28D-AAA0-2FDAE0DD79C8}"/>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pic>
        <p:nvPicPr>
          <p:cNvPr id="12" name="Picture 11">
            <a:extLst>
              <a:ext uri="{FF2B5EF4-FFF2-40B4-BE49-F238E27FC236}">
                <a16:creationId xmlns:a16="http://schemas.microsoft.com/office/drawing/2014/main" id="{C8D82E1A-E9BD-B3D5-34A0-FB18FC9022D4}"/>
              </a:ext>
            </a:extLst>
          </p:cNvPr>
          <p:cNvPicPr>
            <a:picLocks noChangeAspect="1"/>
          </p:cNvPicPr>
          <p:nvPr userDrawn="1"/>
        </p:nvPicPr>
        <p:blipFill>
          <a:blip r:embed="rId5"/>
          <a:srcRect/>
          <a:stretch/>
        </p:blipFill>
        <p:spPr>
          <a:xfrm>
            <a:off x="396240" y="5839797"/>
            <a:ext cx="2204720" cy="578739"/>
          </a:xfrm>
          <a:prstGeom prst="rect">
            <a:avLst/>
          </a:prstGeom>
        </p:spPr>
      </p:pic>
    </p:spTree>
    <p:extLst>
      <p:ext uri="{BB962C8B-B14F-4D97-AF65-F5344CB8AC3E}">
        <p14:creationId xmlns:p14="http://schemas.microsoft.com/office/powerpoint/2010/main" val="2436198345"/>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microsoft.com/office/2007/relationships/media" Target="../media/media2.mp4"/><Relationship Id="rId7"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7.png"/><Relationship Id="rId5" Type="http://schemas.microsoft.com/office/2007/relationships/media" Target="../media/media3.mp4"/><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microsoft.com/office/2007/relationships/media" Target="../media/media5.mp4"/><Relationship Id="rId7" Type="http://schemas.openxmlformats.org/officeDocument/2006/relationships/slideLayout" Target="../slideLayouts/slideLayout3.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video" Target="../media/media6.mp4"/><Relationship Id="rId11" Type="http://schemas.openxmlformats.org/officeDocument/2006/relationships/image" Target="../media/image10.png"/><Relationship Id="rId5" Type="http://schemas.microsoft.com/office/2007/relationships/media" Target="../media/media6.mp4"/><Relationship Id="rId10" Type="http://schemas.openxmlformats.org/officeDocument/2006/relationships/image" Target="../media/image9.png"/><Relationship Id="rId4" Type="http://schemas.openxmlformats.org/officeDocument/2006/relationships/video" Target="../media/media5.mp4"/><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microsoft.com/office/2007/relationships/media" Target="../media/media8.mp4"/><Relationship Id="rId7" Type="http://schemas.openxmlformats.org/officeDocument/2006/relationships/slideLayout" Target="../slideLayouts/slideLayout3.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video" Target="../media/media9.mp4"/><Relationship Id="rId11" Type="http://schemas.openxmlformats.org/officeDocument/2006/relationships/image" Target="../media/image13.png"/><Relationship Id="rId5" Type="http://schemas.microsoft.com/office/2007/relationships/media" Target="../media/media9.mp4"/><Relationship Id="rId10" Type="http://schemas.openxmlformats.org/officeDocument/2006/relationships/image" Target="../media/image12.png"/><Relationship Id="rId4" Type="http://schemas.openxmlformats.org/officeDocument/2006/relationships/video" Target="../media/media8.mp4"/><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569E-614C-4CFA-A1B7-BEDE810F5AEE}"/>
              </a:ext>
            </a:extLst>
          </p:cNvPr>
          <p:cNvSpPr>
            <a:spLocks noGrp="1"/>
          </p:cNvSpPr>
          <p:nvPr>
            <p:ph type="ctrTitle"/>
          </p:nvPr>
        </p:nvSpPr>
        <p:spPr>
          <a:xfrm>
            <a:off x="591136" y="712188"/>
            <a:ext cx="7658596" cy="2203244"/>
          </a:xfrm>
        </p:spPr>
        <p:txBody>
          <a:bodyPr>
            <a:noAutofit/>
          </a:bodyPr>
          <a:lstStyle/>
          <a:p>
            <a:r>
              <a:rPr lang="en-US" sz="4000" dirty="0">
                <a:solidFill>
                  <a:srgbClr val="C00000"/>
                </a:solidFill>
                <a:latin typeface="Helvetica" pitchFamily="2" charset="0"/>
                <a:cs typeface="Arial" panose="020B0604020202020204" pitchFamily="34" charset="0"/>
              </a:rPr>
              <a:t>Agent-Based Modeling of the Ductal Structure in Pancreatic Precancer</a:t>
            </a:r>
          </a:p>
        </p:txBody>
      </p:sp>
      <p:sp>
        <p:nvSpPr>
          <p:cNvPr id="3" name="Subtitle 2">
            <a:extLst>
              <a:ext uri="{FF2B5EF4-FFF2-40B4-BE49-F238E27FC236}">
                <a16:creationId xmlns:a16="http://schemas.microsoft.com/office/drawing/2014/main" id="{643A3B34-95E0-433B-8908-DFF0FAD5B3B2}"/>
              </a:ext>
            </a:extLst>
          </p:cNvPr>
          <p:cNvSpPr>
            <a:spLocks noGrp="1"/>
          </p:cNvSpPr>
          <p:nvPr>
            <p:ph type="subTitle" idx="1"/>
          </p:nvPr>
        </p:nvSpPr>
        <p:spPr>
          <a:xfrm>
            <a:off x="1143000" y="3942568"/>
            <a:ext cx="6858000" cy="2203244"/>
          </a:xfrm>
        </p:spPr>
        <p:txBody>
          <a:bodyPr>
            <a:noAutofit/>
          </a:bodyPr>
          <a:lstStyle/>
          <a:p>
            <a:r>
              <a:rPr lang="en-US" sz="2800" dirty="0">
                <a:solidFill>
                  <a:schemeClr val="tx2">
                    <a:lumMod val="60000"/>
                    <a:lumOff val="40000"/>
                  </a:schemeClr>
                </a:solidFill>
                <a:latin typeface="Arial" panose="020B0604020202020204" pitchFamily="34" charset="0"/>
                <a:cs typeface="Arial" panose="020B0604020202020204" pitchFamily="34" charset="0"/>
              </a:rPr>
              <a:t>Cameron Yeagle</a:t>
            </a:r>
          </a:p>
          <a:p>
            <a:r>
              <a:rPr lang="en-US" sz="2800" dirty="0">
                <a:solidFill>
                  <a:schemeClr val="tx2">
                    <a:lumMod val="60000"/>
                    <a:lumOff val="40000"/>
                  </a:schemeClr>
                </a:solidFill>
                <a:latin typeface="Arial" panose="020B0604020202020204" pitchFamily="34" charset="0"/>
                <a:cs typeface="Arial" panose="020B0604020202020204" pitchFamily="34" charset="0"/>
              </a:rPr>
              <a:t>Advisors: Dr. Daniel Bergman and Dr. Elana Fertig</a:t>
            </a:r>
          </a:p>
        </p:txBody>
      </p:sp>
    </p:spTree>
    <p:extLst>
      <p:ext uri="{BB962C8B-B14F-4D97-AF65-F5344CB8AC3E}">
        <p14:creationId xmlns:p14="http://schemas.microsoft.com/office/powerpoint/2010/main" val="389211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56837" y="0"/>
            <a:ext cx="2175527" cy="994172"/>
          </a:xfrm>
        </p:spPr>
        <p:txBody>
          <a:bodyPr>
            <a:noAutofit/>
          </a:bodyPr>
          <a:lstStyle/>
          <a:p>
            <a:r>
              <a:rPr lang="en-US" sz="2000" b="1" dirty="0">
                <a:solidFill>
                  <a:srgbClr val="171C8C"/>
                </a:solidFill>
                <a:latin typeface="Arial" panose="020B0604020202020204" pitchFamily="34" charset="0"/>
                <a:cs typeface="Arial" panose="020B0604020202020204" pitchFamily="34" charset="0"/>
              </a:rPr>
              <a:t>Sigma=25</a:t>
            </a:r>
          </a:p>
        </p:txBody>
      </p:sp>
      <p:pic>
        <p:nvPicPr>
          <p:cNvPr id="2" name="kernel_strain(25,0)">
            <a:hlinkClick r:id="" action="ppaction://media"/>
            <a:extLst>
              <a:ext uri="{FF2B5EF4-FFF2-40B4-BE49-F238E27FC236}">
                <a16:creationId xmlns:a16="http://schemas.microsoft.com/office/drawing/2014/main" id="{8BAE75CE-7C80-A8F8-C185-D901DC7B6883}"/>
              </a:ext>
            </a:extLst>
          </p:cNvPr>
          <p:cNvPicPr>
            <a:picLocks noChangeAspect="1"/>
          </p:cNvPicPr>
          <p:nvPr>
            <a:videoFile r:link="rId2"/>
            <p:extLst>
              <p:ext uri="{DAA4B4D4-6D71-4841-9C94-3DE7FCFB9230}">
                <p14:media xmlns:p14="http://schemas.microsoft.com/office/powerpoint/2010/main" r:embed="rId1"/>
              </p:ext>
            </p:extLst>
          </p:nvPr>
        </p:nvPicPr>
        <p:blipFill>
          <a:blip r:embed="rId9"/>
          <a:srcRect l="19476" t="-2216" r="27949" b="7132"/>
          <a:stretch>
            <a:fillRect/>
          </a:stretch>
        </p:blipFill>
        <p:spPr>
          <a:xfrm>
            <a:off x="191531" y="684296"/>
            <a:ext cx="3036578" cy="3089083"/>
          </a:xfrm>
          <a:prstGeom prst="rect">
            <a:avLst/>
          </a:prstGeom>
        </p:spPr>
      </p:pic>
      <p:pic>
        <p:nvPicPr>
          <p:cNvPr id="4" name="Kernel_Strain(0,.1)">
            <a:hlinkClick r:id="" action="ppaction://media"/>
            <a:extLst>
              <a:ext uri="{FF2B5EF4-FFF2-40B4-BE49-F238E27FC236}">
                <a16:creationId xmlns:a16="http://schemas.microsoft.com/office/drawing/2014/main" id="{914192F5-6272-957B-E7F5-DFC072CBE9B5}"/>
              </a:ext>
            </a:extLst>
          </p:cNvPr>
          <p:cNvPicPr>
            <a:picLocks noChangeAspect="1"/>
          </p:cNvPicPr>
          <p:nvPr>
            <a:videoFile r:link="rId4"/>
            <p:extLst>
              <p:ext uri="{DAA4B4D4-6D71-4841-9C94-3DE7FCFB9230}">
                <p14:media xmlns:p14="http://schemas.microsoft.com/office/powerpoint/2010/main" r:embed="rId3"/>
              </p:ext>
            </p:extLst>
          </p:nvPr>
        </p:nvPicPr>
        <p:blipFill>
          <a:blip r:embed="rId10"/>
          <a:srcRect l="18969" r="27394" b="10365"/>
          <a:stretch>
            <a:fillRect/>
          </a:stretch>
        </p:blipFill>
        <p:spPr>
          <a:xfrm>
            <a:off x="5373254" y="684296"/>
            <a:ext cx="3194429" cy="3002858"/>
          </a:xfrm>
          <a:prstGeom prst="rect">
            <a:avLst/>
          </a:prstGeom>
        </p:spPr>
      </p:pic>
      <p:sp>
        <p:nvSpPr>
          <p:cNvPr id="6" name="Title 9">
            <a:extLst>
              <a:ext uri="{FF2B5EF4-FFF2-40B4-BE49-F238E27FC236}">
                <a16:creationId xmlns:a16="http://schemas.microsoft.com/office/drawing/2014/main" id="{4D73BD2C-36EB-FC65-5DDF-CAD8C778E079}"/>
              </a:ext>
            </a:extLst>
          </p:cNvPr>
          <p:cNvSpPr txBox="1">
            <a:spLocks/>
          </p:cNvSpPr>
          <p:nvPr/>
        </p:nvSpPr>
        <p:spPr>
          <a:xfrm>
            <a:off x="5638437" y="-78556"/>
            <a:ext cx="217552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2000" b="1" dirty="0">
                <a:solidFill>
                  <a:srgbClr val="171C8C"/>
                </a:solidFill>
                <a:latin typeface="Arial" panose="020B0604020202020204" pitchFamily="34" charset="0"/>
                <a:cs typeface="Arial" panose="020B0604020202020204" pitchFamily="34" charset="0"/>
              </a:rPr>
              <a:t>Strain=.1</a:t>
            </a:r>
          </a:p>
        </p:txBody>
      </p:sp>
      <p:pic>
        <p:nvPicPr>
          <p:cNvPr id="7" name="baseline(both)">
            <a:hlinkClick r:id="" action="ppaction://media"/>
            <a:extLst>
              <a:ext uri="{FF2B5EF4-FFF2-40B4-BE49-F238E27FC236}">
                <a16:creationId xmlns:a16="http://schemas.microsoft.com/office/drawing/2014/main" id="{6AEEB917-23CC-1B17-8FAA-FB2178796C0A}"/>
              </a:ext>
            </a:extLst>
          </p:cNvPr>
          <p:cNvPicPr>
            <a:picLocks noChangeAspect="1"/>
          </p:cNvPicPr>
          <p:nvPr>
            <a:videoFile r:link="rId6"/>
            <p:extLst>
              <p:ext uri="{DAA4B4D4-6D71-4841-9C94-3DE7FCFB9230}">
                <p14:media xmlns:p14="http://schemas.microsoft.com/office/powerpoint/2010/main" r:embed="rId5"/>
              </p:ext>
            </p:extLst>
          </p:nvPr>
        </p:nvPicPr>
        <p:blipFill>
          <a:blip r:embed="rId11"/>
          <a:srcRect l="19290" r="26165" b="6355"/>
          <a:stretch>
            <a:fillRect/>
          </a:stretch>
        </p:blipFill>
        <p:spPr>
          <a:xfrm>
            <a:off x="2974785" y="3643257"/>
            <a:ext cx="3194429" cy="3084897"/>
          </a:xfrm>
          <a:prstGeom prst="rect">
            <a:avLst/>
          </a:prstGeom>
        </p:spPr>
      </p:pic>
      <p:sp>
        <p:nvSpPr>
          <p:cNvPr id="8" name="Title 9">
            <a:extLst>
              <a:ext uri="{FF2B5EF4-FFF2-40B4-BE49-F238E27FC236}">
                <a16:creationId xmlns:a16="http://schemas.microsoft.com/office/drawing/2014/main" id="{E626F33A-8B51-09D5-A9B0-AED863D8596F}"/>
              </a:ext>
            </a:extLst>
          </p:cNvPr>
          <p:cNvSpPr txBox="1">
            <a:spLocks/>
          </p:cNvSpPr>
          <p:nvPr/>
        </p:nvSpPr>
        <p:spPr>
          <a:xfrm>
            <a:off x="6169214" y="5179532"/>
            <a:ext cx="217552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2000" b="1" dirty="0">
                <a:solidFill>
                  <a:srgbClr val="171C8C"/>
                </a:solidFill>
                <a:latin typeface="Arial" panose="020B0604020202020204" pitchFamily="34" charset="0"/>
                <a:cs typeface="Arial" panose="020B0604020202020204" pitchFamily="34" charset="0"/>
              </a:rPr>
              <a:t>Sigma=25</a:t>
            </a:r>
          </a:p>
          <a:p>
            <a:r>
              <a:rPr lang="en-US" sz="2000" b="1" dirty="0">
                <a:solidFill>
                  <a:srgbClr val="171C8C"/>
                </a:solidFill>
                <a:latin typeface="Arial" panose="020B0604020202020204" pitchFamily="34" charset="0"/>
                <a:cs typeface="Arial" panose="020B0604020202020204" pitchFamily="34" charset="0"/>
              </a:rPr>
              <a:t>Strain=.1</a:t>
            </a:r>
          </a:p>
        </p:txBody>
      </p:sp>
    </p:spTree>
    <p:extLst>
      <p:ext uri="{BB962C8B-B14F-4D97-AF65-F5344CB8AC3E}">
        <p14:creationId xmlns:p14="http://schemas.microsoft.com/office/powerpoint/2010/main" val="399093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76"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377"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01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video>
              <p:cMediaNode vol="80000">
                <p:cTn id="21" fill="hold" display="0">
                  <p:stCondLst>
                    <p:cond delay="indefinite"/>
                  </p:stCondLst>
                </p:cTn>
                <p:tgtEl>
                  <p:spTgt spid="4"/>
                </p:tgtEl>
              </p:cMediaNode>
            </p:video>
            <p:seq concurrent="1" nextAc="seek">
              <p:cTn id="22" restart="whenNotActive" fill="hold" evtFilter="cancelBubble" nodeType="interactiveSeq">
                <p:stCondLst>
                  <p:cond evt="onClick" delay="0">
                    <p:tgtEl>
                      <p:spTgt spid="4"/>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4"/>
                                        </p:tgtEl>
                                      </p:cBhvr>
                                    </p:cmd>
                                  </p:childTnLst>
                                </p:cTn>
                              </p:par>
                            </p:childTnLst>
                          </p:cTn>
                        </p:par>
                      </p:childTnLst>
                    </p:cTn>
                  </p:par>
                </p:childTnLst>
              </p:cTn>
              <p:nextCondLst>
                <p:cond evt="onClick" delay="0">
                  <p:tgtEl>
                    <p:spTgt spid="4"/>
                  </p:tgtEl>
                </p:cond>
              </p:nextCondLst>
            </p:seq>
            <p:video>
              <p:cMediaNode vol="80000">
                <p:cTn id="27" fill="hold" display="0">
                  <p:stCondLst>
                    <p:cond delay="indefinite"/>
                  </p:stCondLst>
                </p:cTn>
                <p:tgtEl>
                  <p:spTgt spid="7"/>
                </p:tgtEl>
              </p:cMediaNode>
            </p:video>
            <p:seq concurrent="1" nextAc="seek">
              <p:cTn id="28" restart="whenNotActive" fill="hold" evtFilter="cancelBubble" nodeType="interactiveSeq">
                <p:stCondLst>
                  <p:cond evt="onClick" delay="0">
                    <p:tgtEl>
                      <p:spTgt spid="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1313-CA8C-53F6-DD99-C7E540AE404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420CA69-29A7-3DB5-6626-4EF635CD0D1D}"/>
              </a:ext>
            </a:extLst>
          </p:cNvPr>
          <p:cNvSpPr>
            <a:spLocks noGrp="1"/>
          </p:cNvSpPr>
          <p:nvPr>
            <p:ph type="title"/>
          </p:nvPr>
        </p:nvSpPr>
        <p:spPr>
          <a:xfrm>
            <a:off x="230013" y="997813"/>
            <a:ext cx="1259567" cy="994172"/>
          </a:xfrm>
        </p:spPr>
        <p:txBody>
          <a:bodyPr>
            <a:noAutofit/>
          </a:bodyPr>
          <a:lstStyle/>
          <a:p>
            <a:r>
              <a:rPr lang="en-US" sz="1600" b="1" dirty="0">
                <a:solidFill>
                  <a:srgbClr val="171C8C"/>
                </a:solidFill>
                <a:latin typeface="Arial" panose="020B0604020202020204" pitchFamily="34" charset="0"/>
                <a:cs typeface="Arial" panose="020B0604020202020204" pitchFamily="34" charset="0"/>
              </a:rPr>
              <a:t>Sigma=8.4</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strain=.1</a:t>
            </a:r>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pic>
        <p:nvPicPr>
          <p:cNvPr id="3" name="kernel_strain_bending(2.8,.1,0)">
            <a:hlinkClick r:id="" action="ppaction://media"/>
            <a:extLst>
              <a:ext uri="{FF2B5EF4-FFF2-40B4-BE49-F238E27FC236}">
                <a16:creationId xmlns:a16="http://schemas.microsoft.com/office/drawing/2014/main" id="{3C1B7D82-3019-C338-6F3F-82F4DCE5E203}"/>
              </a:ext>
            </a:extLst>
          </p:cNvPr>
          <p:cNvPicPr>
            <a:picLocks noChangeAspect="1"/>
          </p:cNvPicPr>
          <p:nvPr>
            <a:videoFile r:link="rId2"/>
            <p:extLst>
              <p:ext uri="{DAA4B4D4-6D71-4841-9C94-3DE7FCFB9230}">
                <p14:media xmlns:p14="http://schemas.microsoft.com/office/powerpoint/2010/main" r:embed="rId1"/>
              </p:ext>
            </p:extLst>
          </p:nvPr>
        </p:nvPicPr>
        <p:blipFill>
          <a:blip r:embed="rId9"/>
          <a:srcRect l="18095" r="27057" b="8240"/>
          <a:stretch>
            <a:fillRect/>
          </a:stretch>
        </p:blipFill>
        <p:spPr>
          <a:xfrm>
            <a:off x="1402607" y="576919"/>
            <a:ext cx="3144355" cy="2958961"/>
          </a:xfrm>
          <a:prstGeom prst="rect">
            <a:avLst/>
          </a:prstGeom>
        </p:spPr>
      </p:pic>
      <p:sp>
        <p:nvSpPr>
          <p:cNvPr id="5" name="Title 9">
            <a:extLst>
              <a:ext uri="{FF2B5EF4-FFF2-40B4-BE49-F238E27FC236}">
                <a16:creationId xmlns:a16="http://schemas.microsoft.com/office/drawing/2014/main" id="{26CFCAEE-CC00-063B-953B-7CF3DBF026CB}"/>
              </a:ext>
            </a:extLst>
          </p:cNvPr>
          <p:cNvSpPr txBox="1">
            <a:spLocks/>
          </p:cNvSpPr>
          <p:nvPr/>
        </p:nvSpPr>
        <p:spPr>
          <a:xfrm>
            <a:off x="7553035" y="803849"/>
            <a:ext cx="125956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1600" b="1" dirty="0">
                <a:solidFill>
                  <a:srgbClr val="171C8C"/>
                </a:solidFill>
                <a:latin typeface="Arial" panose="020B0604020202020204" pitchFamily="34" charset="0"/>
                <a:cs typeface="Arial" panose="020B0604020202020204" pitchFamily="34" charset="0"/>
              </a:rPr>
              <a:t>Sigma=0</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strain=.1</a:t>
            </a:r>
          </a:p>
          <a:p>
            <a:r>
              <a:rPr lang="en-US" sz="1600" b="1" dirty="0">
                <a:solidFill>
                  <a:srgbClr val="171C8C"/>
                </a:solidFill>
                <a:latin typeface="Arial" panose="020B0604020202020204" pitchFamily="34" charset="0"/>
                <a:cs typeface="Arial" panose="020B0604020202020204" pitchFamily="34" charset="0"/>
              </a:rPr>
              <a:t>bend=4</a:t>
            </a:r>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pic>
        <p:nvPicPr>
          <p:cNvPr id="9" name="kernel_strain_bending(0,.1,4)">
            <a:hlinkClick r:id="" action="ppaction://media"/>
            <a:extLst>
              <a:ext uri="{FF2B5EF4-FFF2-40B4-BE49-F238E27FC236}">
                <a16:creationId xmlns:a16="http://schemas.microsoft.com/office/drawing/2014/main" id="{B59C921C-C8A9-C173-ECC3-8F16A58D0AF8}"/>
              </a:ext>
            </a:extLst>
          </p:cNvPr>
          <p:cNvPicPr>
            <a:picLocks noChangeAspect="1"/>
          </p:cNvPicPr>
          <p:nvPr>
            <a:videoFile r:link="rId4"/>
            <p:extLst>
              <p:ext uri="{DAA4B4D4-6D71-4841-9C94-3DE7FCFB9230}">
                <p14:media xmlns:p14="http://schemas.microsoft.com/office/powerpoint/2010/main" r:embed="rId3"/>
              </p:ext>
            </p:extLst>
          </p:nvPr>
        </p:nvPicPr>
        <p:blipFill>
          <a:blip r:embed="rId10"/>
          <a:srcRect l="18969" r="29061" b="10110"/>
          <a:stretch>
            <a:fillRect/>
          </a:stretch>
        </p:blipFill>
        <p:spPr>
          <a:xfrm>
            <a:off x="4549896" y="576919"/>
            <a:ext cx="3003139" cy="2921860"/>
          </a:xfrm>
          <a:prstGeom prst="rect">
            <a:avLst/>
          </a:prstGeom>
        </p:spPr>
      </p:pic>
      <p:sp>
        <p:nvSpPr>
          <p:cNvPr id="11" name="Title 9">
            <a:extLst>
              <a:ext uri="{FF2B5EF4-FFF2-40B4-BE49-F238E27FC236}">
                <a16:creationId xmlns:a16="http://schemas.microsoft.com/office/drawing/2014/main" id="{F435C084-DB5D-2D10-CD8A-3CC21A42B882}"/>
              </a:ext>
            </a:extLst>
          </p:cNvPr>
          <p:cNvSpPr txBox="1">
            <a:spLocks/>
          </p:cNvSpPr>
          <p:nvPr/>
        </p:nvSpPr>
        <p:spPr>
          <a:xfrm>
            <a:off x="6051465" y="4073522"/>
            <a:ext cx="125956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1600" b="1" dirty="0">
                <a:solidFill>
                  <a:srgbClr val="171C8C"/>
                </a:solidFill>
                <a:latin typeface="Arial" panose="020B0604020202020204" pitchFamily="34" charset="0"/>
                <a:cs typeface="Arial" panose="020B0604020202020204" pitchFamily="34" charset="0"/>
              </a:rPr>
              <a:t>Sigma=8.4</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strain=.1</a:t>
            </a:r>
          </a:p>
          <a:p>
            <a:r>
              <a:rPr lang="en-US" sz="1600" b="1" dirty="0">
                <a:solidFill>
                  <a:srgbClr val="171C8C"/>
                </a:solidFill>
                <a:latin typeface="Arial" panose="020B0604020202020204" pitchFamily="34" charset="0"/>
                <a:cs typeface="Arial" panose="020B0604020202020204" pitchFamily="34" charset="0"/>
              </a:rPr>
              <a:t>bend=4</a:t>
            </a:r>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pic>
        <p:nvPicPr>
          <p:cNvPr id="12" name="kernel_strain_bending(2.8,.1,4)">
            <a:hlinkClick r:id="" action="ppaction://media"/>
            <a:extLst>
              <a:ext uri="{FF2B5EF4-FFF2-40B4-BE49-F238E27FC236}">
                <a16:creationId xmlns:a16="http://schemas.microsoft.com/office/drawing/2014/main" id="{28E16690-9D24-8D39-5AAB-C846E2453808}"/>
              </a:ext>
            </a:extLst>
          </p:cNvPr>
          <p:cNvPicPr>
            <a:picLocks noChangeAspect="1"/>
          </p:cNvPicPr>
          <p:nvPr>
            <a:videoFile r:link="rId6"/>
            <p:extLst>
              <p:ext uri="{DAA4B4D4-6D71-4841-9C94-3DE7FCFB9230}">
                <p14:media xmlns:p14="http://schemas.microsoft.com/office/powerpoint/2010/main" r:embed="rId5"/>
              </p:ext>
            </p:extLst>
          </p:nvPr>
        </p:nvPicPr>
        <p:blipFill>
          <a:blip r:embed="rId11"/>
          <a:srcRect l="18550" r="27208" b="7163"/>
          <a:stretch>
            <a:fillRect/>
          </a:stretch>
        </p:blipFill>
        <p:spPr>
          <a:xfrm>
            <a:off x="2793675" y="3535880"/>
            <a:ext cx="3257790" cy="3136361"/>
          </a:xfrm>
          <a:prstGeom prst="rect">
            <a:avLst/>
          </a:prstGeom>
        </p:spPr>
      </p:pic>
    </p:spTree>
    <p:extLst>
      <p:ext uri="{BB962C8B-B14F-4D97-AF65-F5344CB8AC3E}">
        <p14:creationId xmlns:p14="http://schemas.microsoft.com/office/powerpoint/2010/main" val="115588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76"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9776" fill="hold"/>
                                        <p:tgtEl>
                                          <p:spTgt spid="9"/>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997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3"/>
                </p:tgtEl>
              </p:cMediaNode>
            </p:video>
            <p:seq concurrent="1" nextAc="seek">
              <p:cTn id="16" restart="whenNotActive" fill="hold" evtFilter="cancelBubble" nodeType="interactiveSeq">
                <p:stCondLst>
                  <p:cond evt="onClick" delay="0">
                    <p:tgtEl>
                      <p:spTgt spid="3"/>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3"/>
                                        </p:tgtEl>
                                      </p:cBhvr>
                                    </p:cmd>
                                  </p:childTnLst>
                                </p:cTn>
                              </p:par>
                            </p:childTnLst>
                          </p:cTn>
                        </p:par>
                      </p:childTnLst>
                    </p:cTn>
                  </p:par>
                </p:childTnLst>
              </p:cTn>
              <p:nextCondLst>
                <p:cond evt="onClick" delay="0">
                  <p:tgtEl>
                    <p:spTgt spid="3"/>
                  </p:tgtEl>
                </p:cond>
              </p:nextCondLst>
            </p:seq>
            <p:video>
              <p:cMediaNode vol="80000">
                <p:cTn id="21" fill="hold" display="0">
                  <p:stCondLst>
                    <p:cond delay="indefinite"/>
                  </p:stCondLst>
                </p:cTn>
                <p:tgtEl>
                  <p:spTgt spid="9"/>
                </p:tgtEl>
              </p:cMediaNode>
            </p:video>
            <p:seq concurrent="1" nextAc="seek">
              <p:cTn id="22" restart="whenNotActive" fill="hold" evtFilter="cancelBubble" nodeType="interactiveSeq">
                <p:stCondLst>
                  <p:cond evt="onClick" delay="0">
                    <p:tgtEl>
                      <p:spTgt spid="9"/>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9"/>
                                        </p:tgtEl>
                                      </p:cBhvr>
                                    </p:cmd>
                                  </p:childTnLst>
                                </p:cTn>
                              </p:par>
                            </p:childTnLst>
                          </p:cTn>
                        </p:par>
                      </p:childTnLst>
                    </p:cTn>
                  </p:par>
                </p:childTnLst>
              </p:cTn>
              <p:nextCondLst>
                <p:cond evt="onClick" delay="0">
                  <p:tgtEl>
                    <p:spTgt spid="9"/>
                  </p:tgtEl>
                </p:cond>
              </p:nextCondLst>
            </p:seq>
            <p:video>
              <p:cMediaNode vol="80000">
                <p:cTn id="27" fill="hold" display="0">
                  <p:stCondLst>
                    <p:cond delay="indefinite"/>
                  </p:stCondLst>
                </p:cTn>
                <p:tgtEl>
                  <p:spTgt spid="12"/>
                </p:tgtEl>
              </p:cMediaNode>
            </p:video>
            <p:seq concurrent="1" nextAc="seek">
              <p:cTn id="28" restart="whenNotActive" fill="hold" evtFilter="cancelBubble" nodeType="interactiveSeq">
                <p:stCondLst>
                  <p:cond evt="onClick" delay="0">
                    <p:tgtEl>
                      <p:spTgt spid="12"/>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27DFE-ABCA-0008-06DA-65D8FD7567A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8964127-C503-B475-E427-DD9E696F28F1}"/>
              </a:ext>
            </a:extLst>
          </p:cNvPr>
          <p:cNvSpPr>
            <a:spLocks noGrp="1"/>
          </p:cNvSpPr>
          <p:nvPr>
            <p:ph type="title"/>
          </p:nvPr>
        </p:nvSpPr>
        <p:spPr>
          <a:xfrm>
            <a:off x="230013" y="997813"/>
            <a:ext cx="1259567" cy="994172"/>
          </a:xfrm>
        </p:spPr>
        <p:txBody>
          <a:bodyPr>
            <a:noAutofit/>
          </a:bodyPr>
          <a:lstStyle/>
          <a:p>
            <a:r>
              <a:rPr lang="en-US" sz="1600" b="1" dirty="0">
                <a:solidFill>
                  <a:srgbClr val="171C8C"/>
                </a:solidFill>
                <a:latin typeface="Arial" panose="020B0604020202020204" pitchFamily="34" charset="0"/>
                <a:cs typeface="Arial" panose="020B0604020202020204" pitchFamily="34" charset="0"/>
              </a:rPr>
              <a:t>Sigma=0</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strain=0</a:t>
            </a:r>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sp>
        <p:nvSpPr>
          <p:cNvPr id="5" name="Title 9">
            <a:extLst>
              <a:ext uri="{FF2B5EF4-FFF2-40B4-BE49-F238E27FC236}">
                <a16:creationId xmlns:a16="http://schemas.microsoft.com/office/drawing/2014/main" id="{CD807806-899D-242D-443D-B1218442E8A4}"/>
              </a:ext>
            </a:extLst>
          </p:cNvPr>
          <p:cNvSpPr txBox="1">
            <a:spLocks/>
          </p:cNvSpPr>
          <p:nvPr/>
        </p:nvSpPr>
        <p:spPr>
          <a:xfrm>
            <a:off x="7553035" y="803849"/>
            <a:ext cx="125956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1600" b="1" dirty="0">
                <a:solidFill>
                  <a:srgbClr val="171C8C"/>
                </a:solidFill>
                <a:latin typeface="Arial" panose="020B0604020202020204" pitchFamily="34" charset="0"/>
                <a:cs typeface="Arial" panose="020B0604020202020204" pitchFamily="34" charset="0"/>
              </a:rPr>
              <a:t>Sigma=0</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strain=.1</a:t>
            </a:r>
          </a:p>
          <a:p>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sp>
        <p:nvSpPr>
          <p:cNvPr id="11" name="Title 9">
            <a:extLst>
              <a:ext uri="{FF2B5EF4-FFF2-40B4-BE49-F238E27FC236}">
                <a16:creationId xmlns:a16="http://schemas.microsoft.com/office/drawing/2014/main" id="{F22E877F-E29E-BDE4-169E-B5D9260D370F}"/>
              </a:ext>
            </a:extLst>
          </p:cNvPr>
          <p:cNvSpPr txBox="1">
            <a:spLocks/>
          </p:cNvSpPr>
          <p:nvPr/>
        </p:nvSpPr>
        <p:spPr>
          <a:xfrm>
            <a:off x="6051465" y="4073522"/>
            <a:ext cx="1259567"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1600" b="1" dirty="0">
                <a:solidFill>
                  <a:srgbClr val="171C8C"/>
                </a:solidFill>
                <a:latin typeface="Arial" panose="020B0604020202020204" pitchFamily="34" charset="0"/>
                <a:cs typeface="Arial" panose="020B0604020202020204" pitchFamily="34" charset="0"/>
              </a:rPr>
              <a:t>Sigma=10</a:t>
            </a:r>
            <a:br>
              <a:rPr lang="en-US" sz="1600" b="1" dirty="0">
                <a:solidFill>
                  <a:srgbClr val="171C8C"/>
                </a:solidFill>
                <a:latin typeface="Arial" panose="020B0604020202020204" pitchFamily="34" charset="0"/>
                <a:cs typeface="Arial" panose="020B0604020202020204" pitchFamily="34" charset="0"/>
              </a:rPr>
            </a:br>
            <a:r>
              <a:rPr lang="en-US" sz="1600" b="1" dirty="0">
                <a:solidFill>
                  <a:srgbClr val="171C8C"/>
                </a:solidFill>
                <a:latin typeface="Arial" panose="020B0604020202020204" pitchFamily="34" charset="0"/>
                <a:cs typeface="Arial" panose="020B0604020202020204" pitchFamily="34" charset="0"/>
              </a:rPr>
              <a:t>strain=0</a:t>
            </a:r>
          </a:p>
          <a:p>
            <a:br>
              <a:rPr lang="en-US" sz="1600" b="1" dirty="0">
                <a:solidFill>
                  <a:srgbClr val="171C8C"/>
                </a:solidFill>
                <a:latin typeface="Arial" panose="020B0604020202020204" pitchFamily="34" charset="0"/>
                <a:cs typeface="Arial" panose="020B0604020202020204" pitchFamily="34" charset="0"/>
              </a:rPr>
            </a:br>
            <a:br>
              <a:rPr lang="en-US" sz="1600" b="1" dirty="0">
                <a:solidFill>
                  <a:srgbClr val="171C8C"/>
                </a:solidFill>
                <a:latin typeface="Arial" panose="020B0604020202020204" pitchFamily="34" charset="0"/>
                <a:cs typeface="Arial" panose="020B0604020202020204" pitchFamily="34" charset="0"/>
              </a:rPr>
            </a:br>
            <a:endParaRPr lang="en-US" sz="1600" b="1" dirty="0">
              <a:solidFill>
                <a:srgbClr val="171C8C"/>
              </a:solidFill>
              <a:latin typeface="Arial" panose="020B0604020202020204" pitchFamily="34" charset="0"/>
              <a:cs typeface="Arial" panose="020B0604020202020204" pitchFamily="34" charset="0"/>
            </a:endParaRPr>
          </a:p>
        </p:txBody>
      </p:sp>
      <p:pic>
        <p:nvPicPr>
          <p:cNvPr id="2" name="Exp2_kernel_strain(0,0)">
            <a:hlinkClick r:id="" action="ppaction://media"/>
            <a:extLst>
              <a:ext uri="{FF2B5EF4-FFF2-40B4-BE49-F238E27FC236}">
                <a16:creationId xmlns:a16="http://schemas.microsoft.com/office/drawing/2014/main" id="{37CFEA51-0BFE-1BBB-782A-553093005577}"/>
              </a:ext>
            </a:extLst>
          </p:cNvPr>
          <p:cNvPicPr>
            <a:picLocks noChangeAspect="1"/>
          </p:cNvPicPr>
          <p:nvPr>
            <a:videoFile r:link="rId2"/>
            <p:extLst>
              <p:ext uri="{DAA4B4D4-6D71-4841-9C94-3DE7FCFB9230}">
                <p14:media xmlns:p14="http://schemas.microsoft.com/office/powerpoint/2010/main" r:embed="rId1"/>
              </p:ext>
            </p:extLst>
          </p:nvPr>
        </p:nvPicPr>
        <p:blipFill>
          <a:blip r:embed="rId9"/>
          <a:srcRect l="19941" t="8343" r="26923" b="18454"/>
          <a:stretch>
            <a:fillRect/>
          </a:stretch>
        </p:blipFill>
        <p:spPr>
          <a:xfrm>
            <a:off x="1686944" y="567911"/>
            <a:ext cx="2872469" cy="2967969"/>
          </a:xfrm>
          <a:prstGeom prst="rect">
            <a:avLst/>
          </a:prstGeom>
        </p:spPr>
      </p:pic>
      <p:pic>
        <p:nvPicPr>
          <p:cNvPr id="4" name="Exp2_kernel_strain(0,.1)">
            <a:hlinkClick r:id="" action="ppaction://media"/>
            <a:extLst>
              <a:ext uri="{FF2B5EF4-FFF2-40B4-BE49-F238E27FC236}">
                <a16:creationId xmlns:a16="http://schemas.microsoft.com/office/drawing/2014/main" id="{851867B7-764F-DBAC-A36B-9E0769B1D311}"/>
              </a:ext>
            </a:extLst>
          </p:cNvPr>
          <p:cNvPicPr>
            <a:picLocks noChangeAspect="1"/>
          </p:cNvPicPr>
          <p:nvPr>
            <a:videoFile r:link="rId4"/>
            <p:extLst>
              <p:ext uri="{DAA4B4D4-6D71-4841-9C94-3DE7FCFB9230}">
                <p14:media xmlns:p14="http://schemas.microsoft.com/office/powerpoint/2010/main" r:embed="rId3"/>
              </p:ext>
            </p:extLst>
          </p:nvPr>
        </p:nvPicPr>
        <p:blipFill>
          <a:blip r:embed="rId10"/>
          <a:srcRect l="19924" t="10256" r="27545" b="19036"/>
          <a:stretch>
            <a:fillRect/>
          </a:stretch>
        </p:blipFill>
        <p:spPr>
          <a:xfrm>
            <a:off x="4680567" y="803850"/>
            <a:ext cx="2630465" cy="2655509"/>
          </a:xfrm>
          <a:prstGeom prst="rect">
            <a:avLst/>
          </a:prstGeom>
        </p:spPr>
      </p:pic>
      <p:pic>
        <p:nvPicPr>
          <p:cNvPr id="6" name="Exp2_kernel_strain(10,0)">
            <a:hlinkClick r:id="" action="ppaction://media"/>
            <a:extLst>
              <a:ext uri="{FF2B5EF4-FFF2-40B4-BE49-F238E27FC236}">
                <a16:creationId xmlns:a16="http://schemas.microsoft.com/office/drawing/2014/main" id="{8FB0E458-7D5F-466D-639D-CC197758BAF7}"/>
              </a:ext>
            </a:extLst>
          </p:cNvPr>
          <p:cNvPicPr>
            <a:picLocks noChangeAspect="1"/>
          </p:cNvPicPr>
          <p:nvPr>
            <a:videoFile r:link="rId6"/>
            <p:extLst>
              <p:ext uri="{DAA4B4D4-6D71-4841-9C94-3DE7FCFB9230}">
                <p14:media xmlns:p14="http://schemas.microsoft.com/office/powerpoint/2010/main" r:embed="rId5"/>
              </p:ext>
            </p:extLst>
          </p:nvPr>
        </p:nvPicPr>
        <p:blipFill>
          <a:blip r:embed="rId11"/>
          <a:srcRect l="19941" t="10233" r="26468" b="19059"/>
          <a:stretch>
            <a:fillRect/>
          </a:stretch>
        </p:blipFill>
        <p:spPr>
          <a:xfrm>
            <a:off x="2996462" y="3583709"/>
            <a:ext cx="2999337" cy="2967969"/>
          </a:xfrm>
          <a:prstGeom prst="rect">
            <a:avLst/>
          </a:prstGeom>
        </p:spPr>
      </p:pic>
    </p:spTree>
    <p:extLst>
      <p:ext uri="{BB962C8B-B14F-4D97-AF65-F5344CB8AC3E}">
        <p14:creationId xmlns:p14="http://schemas.microsoft.com/office/powerpoint/2010/main" val="82675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00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8000"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48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video>
              <p:cMediaNode vol="80000">
                <p:cTn id="21" fill="hold" display="0">
                  <p:stCondLst>
                    <p:cond delay="indefinite"/>
                  </p:stCondLst>
                </p:cTn>
                <p:tgtEl>
                  <p:spTgt spid="4"/>
                </p:tgtEl>
              </p:cMediaNode>
            </p:video>
            <p:seq concurrent="1" nextAc="seek">
              <p:cTn id="22" restart="whenNotActive" fill="hold" evtFilter="cancelBubble" nodeType="interactiveSeq">
                <p:stCondLst>
                  <p:cond evt="onClick" delay="0">
                    <p:tgtEl>
                      <p:spTgt spid="4"/>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4"/>
                                        </p:tgtEl>
                                      </p:cBhvr>
                                    </p:cmd>
                                  </p:childTnLst>
                                </p:cTn>
                              </p:par>
                            </p:childTnLst>
                          </p:cTn>
                        </p:par>
                      </p:childTnLst>
                    </p:cTn>
                  </p:par>
                </p:childTnLst>
              </p:cTn>
              <p:nextCondLst>
                <p:cond evt="onClick" delay="0">
                  <p:tgtEl>
                    <p:spTgt spid="4"/>
                  </p:tgtEl>
                </p:cond>
              </p:nextCondLst>
            </p:seq>
            <p:video>
              <p:cMediaNode vol="80000">
                <p:cTn id="27" fill="hold" display="0">
                  <p:stCondLst>
                    <p:cond delay="indefinite"/>
                  </p:stCondLst>
                </p:cTn>
                <p:tgtEl>
                  <p:spTgt spid="6"/>
                </p:tgtEl>
              </p:cMediaNode>
            </p:video>
            <p:seq concurrent="1" nextAc="seek">
              <p:cTn id="28" restart="whenNotActive" fill="hold" evtFilter="cancelBubble" nodeType="interactiveSeq">
                <p:stCondLst>
                  <p:cond evt="onClick" delay="0">
                    <p:tgtEl>
                      <p:spTgt spid="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SOM Theme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M Theme 3">
  <a:themeElements>
    <a:clrScheme name="UMB Colors">
      <a:dk1>
        <a:srgbClr val="000000"/>
      </a:dk1>
      <a:lt1>
        <a:srgbClr val="FFFFFF"/>
      </a:lt1>
      <a:dk2>
        <a:srgbClr val="D81F37"/>
      </a:dk2>
      <a:lt2>
        <a:srgbClr val="95A1A9"/>
      </a:lt2>
      <a:accent1>
        <a:srgbClr val="D81F37"/>
      </a:accent1>
      <a:accent2>
        <a:srgbClr val="FED430"/>
      </a:accent2>
      <a:accent3>
        <a:srgbClr val="717375"/>
      </a:accent3>
      <a:accent4>
        <a:srgbClr val="107796"/>
      </a:accent4>
      <a:accent5>
        <a:srgbClr val="5F87A0"/>
      </a:accent5>
      <a:accent6>
        <a:srgbClr val="B4CB97"/>
      </a:accent6>
      <a:hlink>
        <a:srgbClr val="C7B08D"/>
      </a:hlink>
      <a:folHlink>
        <a:srgbClr val="6E4C5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Office Theme</Template>
  <TotalTime>54401</TotalTime>
  <Words>1187</Words>
  <Application>Microsoft Macintosh PowerPoint</Application>
  <PresentationFormat>On-screen Show (4:3)</PresentationFormat>
  <Paragraphs>52</Paragraphs>
  <Slides>4</Slides>
  <Notes>4</Notes>
  <HiddenSlides>0</HiddenSlides>
  <MMClips>9</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Aptos</vt:lpstr>
      <vt:lpstr>Arial</vt:lpstr>
      <vt:lpstr>Calibri</vt:lpstr>
      <vt:lpstr>Calibri Light</vt:lpstr>
      <vt:lpstr>Helvetica</vt:lpstr>
      <vt:lpstr>SOM Theme 1</vt:lpstr>
      <vt:lpstr>SOM Theme 3</vt:lpstr>
      <vt:lpstr>Agent-Based Modeling of the Ductal Structure in Pancreatic Precancer</vt:lpstr>
      <vt:lpstr>Sigma=25</vt:lpstr>
      <vt:lpstr>Sigma=8.4 strain=.1  </vt:lpstr>
      <vt:lpstr>Sigma=0 strain=0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Jeanette</dc:creator>
  <cp:lastModifiedBy>Cameron Yeagle</cp:lastModifiedBy>
  <cp:revision>24</cp:revision>
  <dcterms:created xsi:type="dcterms:W3CDTF">2025-05-22T20:08:09Z</dcterms:created>
  <dcterms:modified xsi:type="dcterms:W3CDTF">2026-09-23T04:07:11Z</dcterms:modified>
</cp:coreProperties>
</file>