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Lst>
  <p:notesMasterIdLst>
    <p:notesMasterId r:id="rId11"/>
  </p:notesMasterIdLst>
  <p:sldIdLst>
    <p:sldId id="3588" r:id="rId3"/>
    <p:sldId id="3621" r:id="rId4"/>
    <p:sldId id="3592" r:id="rId5"/>
    <p:sldId id="3623" r:id="rId6"/>
    <p:sldId id="3625" r:id="rId7"/>
    <p:sldId id="3624" r:id="rId8"/>
    <p:sldId id="3626" r:id="rId9"/>
    <p:sldId id="3622"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771" autoAdjust="0"/>
  </p:normalViewPr>
  <p:slideViewPr>
    <p:cSldViewPr snapToGrid="0">
      <p:cViewPr varScale="1">
        <p:scale>
          <a:sx n="62" d="100"/>
          <a:sy n="62" d="100"/>
        </p:scale>
        <p:origin x="20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97E26-78EB-8B41-8DC9-A0EBC93E0939}" type="datetimeFigureOut">
              <a:rPr lang="en-US" smtClean="0"/>
              <a:t>9/19/2025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4238-4DD6-0C4F-824F-F66E32D856F9}" type="slidenum">
              <a:rPr lang="en-US" smtClean="0"/>
              <a:t>‹#›</a:t>
            </a:fld>
            <a:endParaRPr lang="en-US"/>
          </a:p>
        </p:txBody>
      </p:sp>
    </p:spTree>
    <p:extLst>
      <p:ext uri="{BB962C8B-B14F-4D97-AF65-F5344CB8AC3E}">
        <p14:creationId xmlns:p14="http://schemas.microsoft.com/office/powerpoint/2010/main" val="204170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and thank you for being here at my thesis presentation, I will be talking today about my </a:t>
            </a:r>
            <a:r>
              <a:rPr lang="en-US" err="1"/>
              <a:t>phd</a:t>
            </a:r>
            <a:r>
              <a:rPr lang="en-US"/>
              <a:t> work on machine learning and computational modeling for genomics data, specifically genomics data from pancreatic ductal adenocarcinoma</a:t>
            </a:r>
          </a:p>
        </p:txBody>
      </p:sp>
      <p:sp>
        <p:nvSpPr>
          <p:cNvPr id="4" name="Slide Number Placeholder 3"/>
          <p:cNvSpPr>
            <a:spLocks noGrp="1"/>
          </p:cNvSpPr>
          <p:nvPr>
            <p:ph type="sldNum" sz="quarter" idx="5"/>
          </p:nvPr>
        </p:nvSpPr>
        <p:spPr/>
        <p:txBody>
          <a:bodyPr/>
          <a:lstStyle/>
          <a:p>
            <a:fld id="{1A460FFB-2BFB-0142-99F5-9D8A966BF058}" type="slidenum">
              <a:rPr lang="en-US" smtClean="0"/>
              <a:t>1</a:t>
            </a:fld>
            <a:endParaRPr lang="en-US"/>
          </a:p>
        </p:txBody>
      </p:sp>
    </p:spTree>
    <p:extLst>
      <p:ext uri="{BB962C8B-B14F-4D97-AF65-F5344CB8AC3E}">
        <p14:creationId xmlns:p14="http://schemas.microsoft.com/office/powerpoint/2010/main" val="170685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2</a:t>
            </a:fld>
            <a:endParaRPr lang="en-US"/>
          </a:p>
        </p:txBody>
      </p:sp>
    </p:spTree>
    <p:extLst>
      <p:ext uri="{BB962C8B-B14F-4D97-AF65-F5344CB8AC3E}">
        <p14:creationId xmlns:p14="http://schemas.microsoft.com/office/powerpoint/2010/main" val="1996327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83DD-A8C1-710B-5E6C-D5F5A84D8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2A36D-ACA9-D2A0-54EE-5255CBE0B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518B0-E444-FBC8-EFE3-D7C1567F5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241864D2-5790-DA76-6EC4-9F843DA6A508}"/>
              </a:ext>
            </a:extLst>
          </p:cNvPr>
          <p:cNvSpPr>
            <a:spLocks noGrp="1"/>
          </p:cNvSpPr>
          <p:nvPr>
            <p:ph type="sldNum" sz="quarter" idx="5"/>
          </p:nvPr>
        </p:nvSpPr>
        <p:spPr/>
        <p:txBody>
          <a:bodyPr/>
          <a:lstStyle/>
          <a:p>
            <a:fld id="{B314B106-72D9-394B-AE7F-13630EA62899}" type="slidenum">
              <a:rPr lang="en-US" smtClean="0"/>
              <a:t>3</a:t>
            </a:fld>
            <a:endParaRPr lang="en-US"/>
          </a:p>
        </p:txBody>
      </p:sp>
    </p:spTree>
    <p:extLst>
      <p:ext uri="{BB962C8B-B14F-4D97-AF65-F5344CB8AC3E}">
        <p14:creationId xmlns:p14="http://schemas.microsoft.com/office/powerpoint/2010/main" val="3325502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2B51-A798-C10D-42D1-BF74C95CF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5A781-99AC-484D-9687-8E4ECDFDD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DAE2-9AED-1D4B-9792-25E01B5A12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34848C73-EDA6-51D9-D213-CF061EFAE17A}"/>
              </a:ext>
            </a:extLst>
          </p:cNvPr>
          <p:cNvSpPr>
            <a:spLocks noGrp="1"/>
          </p:cNvSpPr>
          <p:nvPr>
            <p:ph type="sldNum" sz="quarter" idx="5"/>
          </p:nvPr>
        </p:nvSpPr>
        <p:spPr/>
        <p:txBody>
          <a:bodyPr/>
          <a:lstStyle/>
          <a:p>
            <a:fld id="{B314B106-72D9-394B-AE7F-13630EA62899}" type="slidenum">
              <a:rPr lang="en-US" smtClean="0"/>
              <a:t>4</a:t>
            </a:fld>
            <a:endParaRPr lang="en-US"/>
          </a:p>
        </p:txBody>
      </p:sp>
    </p:spTree>
    <p:extLst>
      <p:ext uri="{BB962C8B-B14F-4D97-AF65-F5344CB8AC3E}">
        <p14:creationId xmlns:p14="http://schemas.microsoft.com/office/powerpoint/2010/main" val="476236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A4C81-4BE4-C24A-570A-47CEBEE33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12475-B792-3A39-1C19-2A26A5217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2C3B7-CA77-DBDA-1760-B053A56019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5FED305B-E9E4-7F87-830E-82E9C8FE696E}"/>
              </a:ext>
            </a:extLst>
          </p:cNvPr>
          <p:cNvSpPr>
            <a:spLocks noGrp="1"/>
          </p:cNvSpPr>
          <p:nvPr>
            <p:ph type="sldNum" sz="quarter" idx="5"/>
          </p:nvPr>
        </p:nvSpPr>
        <p:spPr/>
        <p:txBody>
          <a:bodyPr/>
          <a:lstStyle/>
          <a:p>
            <a:fld id="{B314B106-72D9-394B-AE7F-13630EA62899}" type="slidenum">
              <a:rPr lang="en-US" smtClean="0"/>
              <a:t>5</a:t>
            </a:fld>
            <a:endParaRPr lang="en-US"/>
          </a:p>
        </p:txBody>
      </p:sp>
    </p:spTree>
    <p:extLst>
      <p:ext uri="{BB962C8B-B14F-4D97-AF65-F5344CB8AC3E}">
        <p14:creationId xmlns:p14="http://schemas.microsoft.com/office/powerpoint/2010/main" val="3010061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709-5504-9512-F144-8BB0FA7DE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6ECED-793E-1853-3637-313BE91F8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209C2-300A-C0DC-D11A-B1374B1E53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49AEE-9D1A-E306-8A9D-07D1498F8051}"/>
              </a:ext>
            </a:extLst>
          </p:cNvPr>
          <p:cNvSpPr>
            <a:spLocks noGrp="1"/>
          </p:cNvSpPr>
          <p:nvPr>
            <p:ph type="sldNum" sz="quarter" idx="5"/>
          </p:nvPr>
        </p:nvSpPr>
        <p:spPr/>
        <p:txBody>
          <a:bodyPr/>
          <a:lstStyle/>
          <a:p>
            <a:fld id="{B314B106-72D9-394B-AE7F-13630EA62899}" type="slidenum">
              <a:rPr lang="en-US" smtClean="0"/>
              <a:t>6</a:t>
            </a:fld>
            <a:endParaRPr lang="en-US"/>
          </a:p>
        </p:txBody>
      </p:sp>
    </p:spTree>
    <p:extLst>
      <p:ext uri="{BB962C8B-B14F-4D97-AF65-F5344CB8AC3E}">
        <p14:creationId xmlns:p14="http://schemas.microsoft.com/office/powerpoint/2010/main" val="1519764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B31A3-D05E-857D-AD7F-2ACE1DD0D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593F4-4088-8DFD-66A3-4E0CE44A6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F8F54-8A41-56B8-19B3-6FCB419EFA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890822-F19A-E324-39EC-0736D0BBBBBE}"/>
              </a:ext>
            </a:extLst>
          </p:cNvPr>
          <p:cNvSpPr>
            <a:spLocks noGrp="1"/>
          </p:cNvSpPr>
          <p:nvPr>
            <p:ph type="sldNum" sz="quarter" idx="5"/>
          </p:nvPr>
        </p:nvSpPr>
        <p:spPr/>
        <p:txBody>
          <a:bodyPr/>
          <a:lstStyle/>
          <a:p>
            <a:fld id="{B314B106-72D9-394B-AE7F-13630EA62899}" type="slidenum">
              <a:rPr lang="en-US" smtClean="0"/>
              <a:t>7</a:t>
            </a:fld>
            <a:endParaRPr lang="en-US"/>
          </a:p>
        </p:txBody>
      </p:sp>
    </p:spTree>
    <p:extLst>
      <p:ext uri="{BB962C8B-B14F-4D97-AF65-F5344CB8AC3E}">
        <p14:creationId xmlns:p14="http://schemas.microsoft.com/office/powerpoint/2010/main" val="4114091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59404-1B99-A960-8E16-A2AC01F74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2209C-4D7D-6791-34F7-75AC6BD0B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E30B8-F743-33AD-F835-20924D0C3F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7BBB98FC-CFA5-267A-ADC6-F5ED56546EA1}"/>
              </a:ext>
            </a:extLst>
          </p:cNvPr>
          <p:cNvSpPr>
            <a:spLocks noGrp="1"/>
          </p:cNvSpPr>
          <p:nvPr>
            <p:ph type="sldNum" sz="quarter" idx="5"/>
          </p:nvPr>
        </p:nvSpPr>
        <p:spPr/>
        <p:txBody>
          <a:bodyPr/>
          <a:lstStyle/>
          <a:p>
            <a:fld id="{B314B106-72D9-394B-AE7F-13630EA62899}" type="slidenum">
              <a:rPr lang="en-US" smtClean="0"/>
              <a:t>8</a:t>
            </a:fld>
            <a:endParaRPr lang="en-US"/>
          </a:p>
        </p:txBody>
      </p:sp>
    </p:spTree>
    <p:extLst>
      <p:ext uri="{BB962C8B-B14F-4D97-AF65-F5344CB8AC3E}">
        <p14:creationId xmlns:p14="http://schemas.microsoft.com/office/powerpoint/2010/main" val="4026622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638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579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799761-2EBC-ED48-8421-93C3DA969FB7}" type="datetimeFigureOut">
              <a:rPr lang="en-US" smtClean="0"/>
              <a:pPr/>
              <a:t>9/19/2025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014C056-413C-A641-A0AD-03006F1178CB}" type="slidenum">
              <a:rPr lang="en-US" smtClean="0"/>
              <a:pPr/>
              <a:t>‹#›</a:t>
            </a:fld>
            <a:endParaRPr lang="en-US"/>
          </a:p>
        </p:txBody>
      </p:sp>
    </p:spTree>
    <p:extLst>
      <p:ext uri="{BB962C8B-B14F-4D97-AF65-F5344CB8AC3E}">
        <p14:creationId xmlns:p14="http://schemas.microsoft.com/office/powerpoint/2010/main" val="1254031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76AEE-5F7C-0C4E-AB7D-BADB32FF08A3}" type="datetimeFigureOut">
              <a:rPr lang="en-US" smtClean="0"/>
              <a:pPr/>
              <a:t>9/19/2025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13DF9-231C-E84E-B773-EA564B7737D7}" type="slidenum">
              <a:rPr lang="en-US" smtClean="0"/>
              <a:pPr/>
              <a:t>‹#›</a:t>
            </a:fld>
            <a:endParaRPr lang="en-US"/>
          </a:p>
        </p:txBody>
      </p:sp>
      <p:pic>
        <p:nvPicPr>
          <p:cNvPr id="7" name="Picture 6">
            <a:extLst>
              <a:ext uri="{FF2B5EF4-FFF2-40B4-BE49-F238E27FC236}">
                <a16:creationId xmlns:a16="http://schemas.microsoft.com/office/drawing/2014/main" id="{F5B8CDBB-FC5A-B9B0-4998-160B71ADB35F}"/>
              </a:ext>
            </a:extLst>
          </p:cNvPr>
          <p:cNvPicPr>
            <a:picLocks noChangeAspect="1"/>
          </p:cNvPicPr>
          <p:nvPr userDrawn="1"/>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12D53516-B803-A90F-456A-188118811DC9}"/>
              </a:ext>
            </a:extLst>
          </p:cNvPr>
          <p:cNvSpPr/>
          <p:nvPr userDrawn="1"/>
        </p:nvSpPr>
        <p:spPr>
          <a:xfrm>
            <a:off x="81280" y="5955665"/>
            <a:ext cx="1981200" cy="7658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descr="UMB SOM logo">
            <a:extLst>
              <a:ext uri="{FF2B5EF4-FFF2-40B4-BE49-F238E27FC236}">
                <a16:creationId xmlns:a16="http://schemas.microsoft.com/office/drawing/2014/main" id="{2206DAD5-CED7-A36A-9A85-A19B6228BB32}"/>
              </a:ext>
            </a:extLst>
          </p:cNvPr>
          <p:cNvPicPr>
            <a:picLocks noChangeAspect="1"/>
          </p:cNvPicPr>
          <p:nvPr userDrawn="1"/>
        </p:nvPicPr>
        <p:blipFill>
          <a:blip r:embed="rId4"/>
          <a:stretch>
            <a:fillRect/>
          </a:stretch>
        </p:blipFill>
        <p:spPr>
          <a:xfrm>
            <a:off x="285750" y="6065045"/>
            <a:ext cx="2204720" cy="579120"/>
          </a:xfrm>
          <a:prstGeom prst="rect">
            <a:avLst/>
          </a:prstGeom>
        </p:spPr>
      </p:pic>
    </p:spTree>
    <p:extLst>
      <p:ext uri="{BB962C8B-B14F-4D97-AF65-F5344CB8AC3E}">
        <p14:creationId xmlns:p14="http://schemas.microsoft.com/office/powerpoint/2010/main" val="277725144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8D7DAD-B32E-AC43-9C03-F04068BB252F}"/>
              </a:ext>
            </a:extLst>
          </p:cNvPr>
          <p:cNvPicPr>
            <a:picLocks noChangeAspect="1"/>
          </p:cNvPicPr>
          <p:nvPr userDrawn="1"/>
        </p:nvPicPr>
        <p:blipFill>
          <a:blip r:embed="rId4"/>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34067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9D31B73-2BAD-3AC6-B896-C76B4E467EE0}"/>
              </a:ext>
            </a:extLst>
          </p:cNvPr>
          <p:cNvSpPr/>
          <p:nvPr userDrawn="1"/>
        </p:nvSpPr>
        <p:spPr>
          <a:xfrm>
            <a:off x="325120" y="5689600"/>
            <a:ext cx="1950720" cy="772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itle Placeholder 10">
            <a:extLst>
              <a:ext uri="{FF2B5EF4-FFF2-40B4-BE49-F238E27FC236}">
                <a16:creationId xmlns:a16="http://schemas.microsoft.com/office/drawing/2014/main" id="{855A138D-ACB1-D28D-AAA0-2FDAE0DD79C8}"/>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pic>
        <p:nvPicPr>
          <p:cNvPr id="12" name="Picture 11">
            <a:extLst>
              <a:ext uri="{FF2B5EF4-FFF2-40B4-BE49-F238E27FC236}">
                <a16:creationId xmlns:a16="http://schemas.microsoft.com/office/drawing/2014/main" id="{C8D82E1A-E9BD-B3D5-34A0-FB18FC9022D4}"/>
              </a:ext>
            </a:extLst>
          </p:cNvPr>
          <p:cNvPicPr>
            <a:picLocks noChangeAspect="1"/>
          </p:cNvPicPr>
          <p:nvPr userDrawn="1"/>
        </p:nvPicPr>
        <p:blipFill>
          <a:blip r:embed="rId5"/>
          <a:srcRect/>
          <a:stretch/>
        </p:blipFill>
        <p:spPr>
          <a:xfrm>
            <a:off x="396240" y="5839797"/>
            <a:ext cx="2204720" cy="578739"/>
          </a:xfrm>
          <a:prstGeom prst="rect">
            <a:avLst/>
          </a:prstGeom>
        </p:spPr>
      </p:pic>
    </p:spTree>
    <p:extLst>
      <p:ext uri="{BB962C8B-B14F-4D97-AF65-F5344CB8AC3E}">
        <p14:creationId xmlns:p14="http://schemas.microsoft.com/office/powerpoint/2010/main" val="2436198345"/>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569E-614C-4CFA-A1B7-BEDE810F5AEE}"/>
              </a:ext>
            </a:extLst>
          </p:cNvPr>
          <p:cNvSpPr>
            <a:spLocks noGrp="1"/>
          </p:cNvSpPr>
          <p:nvPr>
            <p:ph type="ctrTitle"/>
          </p:nvPr>
        </p:nvSpPr>
        <p:spPr>
          <a:xfrm>
            <a:off x="591136" y="712188"/>
            <a:ext cx="7658596" cy="2203244"/>
          </a:xfrm>
        </p:spPr>
        <p:txBody>
          <a:bodyPr>
            <a:noAutofit/>
          </a:bodyPr>
          <a:lstStyle/>
          <a:p>
            <a:r>
              <a:rPr lang="en-US" sz="4000" dirty="0">
                <a:solidFill>
                  <a:srgbClr val="C00000"/>
                </a:solidFill>
                <a:latin typeface="Helvetica" pitchFamily="2" charset="0"/>
                <a:cs typeface="Arial" panose="020B0604020202020204" pitchFamily="34" charset="0"/>
              </a:rPr>
              <a:t>Agent-Based Modeling of the Ductal Structure in Pancreatic Precancer</a:t>
            </a:r>
          </a:p>
        </p:txBody>
      </p:sp>
      <p:sp>
        <p:nvSpPr>
          <p:cNvPr id="3" name="Subtitle 2">
            <a:extLst>
              <a:ext uri="{FF2B5EF4-FFF2-40B4-BE49-F238E27FC236}">
                <a16:creationId xmlns:a16="http://schemas.microsoft.com/office/drawing/2014/main" id="{643A3B34-95E0-433B-8908-DFF0FAD5B3B2}"/>
              </a:ext>
            </a:extLst>
          </p:cNvPr>
          <p:cNvSpPr>
            <a:spLocks noGrp="1"/>
          </p:cNvSpPr>
          <p:nvPr>
            <p:ph type="subTitle" idx="1"/>
          </p:nvPr>
        </p:nvSpPr>
        <p:spPr>
          <a:xfrm>
            <a:off x="1143000" y="3942568"/>
            <a:ext cx="6858000" cy="2203244"/>
          </a:xfrm>
        </p:spPr>
        <p:txBody>
          <a:bodyPr>
            <a:noAutofit/>
          </a:bodyPr>
          <a:lstStyle/>
          <a:p>
            <a:r>
              <a:rPr lang="en-US" sz="2800" dirty="0">
                <a:solidFill>
                  <a:schemeClr val="tx2">
                    <a:lumMod val="60000"/>
                    <a:lumOff val="40000"/>
                  </a:schemeClr>
                </a:solidFill>
                <a:latin typeface="Arial" panose="020B0604020202020204" pitchFamily="34" charset="0"/>
                <a:cs typeface="Arial" panose="020B0604020202020204" pitchFamily="34" charset="0"/>
              </a:rPr>
              <a:t>Cameron Yeagle</a:t>
            </a:r>
          </a:p>
          <a:p>
            <a:r>
              <a:rPr lang="en-US" sz="2800" dirty="0">
                <a:solidFill>
                  <a:schemeClr val="tx2">
                    <a:lumMod val="60000"/>
                    <a:lumOff val="40000"/>
                  </a:schemeClr>
                </a:solidFill>
                <a:latin typeface="Arial" panose="020B0604020202020204" pitchFamily="34" charset="0"/>
                <a:cs typeface="Arial" panose="020B0604020202020204" pitchFamily="34" charset="0"/>
              </a:rPr>
              <a:t>Advisors: Dr. Daniel Bergman and Dr. Elana Fertig</a:t>
            </a:r>
          </a:p>
        </p:txBody>
      </p:sp>
    </p:spTree>
    <p:extLst>
      <p:ext uri="{BB962C8B-B14F-4D97-AF65-F5344CB8AC3E}">
        <p14:creationId xmlns:p14="http://schemas.microsoft.com/office/powerpoint/2010/main" val="389211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9E8AF3-CD0B-34F4-71ED-42BA0834C6ED}"/>
              </a:ext>
            </a:extLst>
          </p:cNvPr>
          <p:cNvPicPr>
            <a:picLocks noChangeAspect="1"/>
          </p:cNvPicPr>
          <p:nvPr/>
        </p:nvPicPr>
        <p:blipFill>
          <a:blip r:embed="rId3"/>
          <a:srcRect b="6116"/>
          <a:stretch>
            <a:fillRect/>
          </a:stretch>
        </p:blipFill>
        <p:spPr>
          <a:xfrm>
            <a:off x="1826407" y="1341828"/>
            <a:ext cx="7126062" cy="4683190"/>
          </a:xfrm>
          <a:prstGeom prst="rect">
            <a:avLst/>
          </a:prstGeom>
        </p:spPr>
      </p:pic>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42982" y="34765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Model Forces</a:t>
            </a:r>
          </a:p>
        </p:txBody>
      </p:sp>
      <p:cxnSp>
        <p:nvCxnSpPr>
          <p:cNvPr id="5" name="Straight Connector 4">
            <a:extLst>
              <a:ext uri="{FF2B5EF4-FFF2-40B4-BE49-F238E27FC236}">
                <a16:creationId xmlns:a16="http://schemas.microsoft.com/office/drawing/2014/main" id="{6161F00D-CD6D-1275-3333-ED17AE5260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933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4FAA-7F5F-93B6-06BA-45FFB4901E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B4AA6EF-D9B2-D827-3156-B6C99CE3EA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BM-Cell Interactions</a:t>
            </a:r>
          </a:p>
        </p:txBody>
      </p:sp>
      <p:cxnSp>
        <p:nvCxnSpPr>
          <p:cNvPr id="5" name="Straight Connector 4">
            <a:extLst>
              <a:ext uri="{FF2B5EF4-FFF2-40B4-BE49-F238E27FC236}">
                <a16:creationId xmlns:a16="http://schemas.microsoft.com/office/drawing/2014/main" id="{3B880F1D-C881-0D18-030B-59B04C97AD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35ACF48A-58A0-FED4-F0C4-DDCBC82C4AD6}"/>
              </a:ext>
            </a:extLst>
          </p:cNvPr>
          <p:cNvPicPr>
            <a:picLocks noChangeAspect="1"/>
          </p:cNvPicPr>
          <p:nvPr/>
        </p:nvPicPr>
        <p:blipFill>
          <a:blip r:embed="rId3"/>
          <a:srcRect l="11370" r="14795" b="6311"/>
          <a:stretch>
            <a:fillRect/>
          </a:stretch>
        </p:blipFill>
        <p:spPr>
          <a:xfrm>
            <a:off x="4246324" y="1853281"/>
            <a:ext cx="4255402" cy="3779729"/>
          </a:xfrm>
          <a:prstGeom prst="rect">
            <a:avLst/>
          </a:prstGeom>
        </p:spPr>
      </p:pic>
      <p:sp>
        <p:nvSpPr>
          <p:cNvPr id="6" name="Content Placeholder 2">
            <a:extLst>
              <a:ext uri="{FF2B5EF4-FFF2-40B4-BE49-F238E27FC236}">
                <a16:creationId xmlns:a16="http://schemas.microsoft.com/office/drawing/2014/main" id="{76E67268-EC7F-10AB-1A82-7BC4F2DA4F99}"/>
              </a:ext>
            </a:extLst>
          </p:cNvPr>
          <p:cNvSpPr txBox="1">
            <a:spLocks/>
          </p:cNvSpPr>
          <p:nvPr/>
        </p:nvSpPr>
        <p:spPr>
          <a:xfrm>
            <a:off x="457200" y="1718628"/>
            <a:ext cx="3723145" cy="4049034"/>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is made up of </a:t>
            </a:r>
            <a:r>
              <a:rPr lang="en-US" sz="3500" b="1" dirty="0">
                <a:solidFill>
                  <a:schemeClr val="tx2"/>
                </a:solidFill>
              </a:rPr>
              <a:t>Laminin</a:t>
            </a:r>
            <a:r>
              <a:rPr lang="en-US" sz="3500" dirty="0"/>
              <a:t> and </a:t>
            </a:r>
            <a:r>
              <a:rPr lang="en-US" sz="3500" b="1" dirty="0">
                <a:solidFill>
                  <a:schemeClr val="tx2"/>
                </a:solidFill>
              </a:rPr>
              <a:t>Collogen IV </a:t>
            </a:r>
            <a:r>
              <a:rPr lang="en-US" sz="3500" dirty="0"/>
              <a:t>[1]</a:t>
            </a:r>
          </a:p>
          <a:p>
            <a:pPr lvl="1">
              <a:spcAft>
                <a:spcPts val="1200"/>
              </a:spcAft>
            </a:pPr>
            <a:r>
              <a:rPr lang="en-US" sz="3200" dirty="0"/>
              <a:t> Laminin binds to </a:t>
            </a:r>
            <a:r>
              <a:rPr lang="en-US" sz="3200" b="1" dirty="0">
                <a:solidFill>
                  <a:schemeClr val="tx2"/>
                </a:solidFill>
              </a:rPr>
              <a:t>Integrin</a:t>
            </a:r>
            <a:r>
              <a:rPr lang="en-US" sz="3200" dirty="0"/>
              <a:t> proteins</a:t>
            </a:r>
          </a:p>
          <a:p>
            <a:r>
              <a:rPr lang="en-US" sz="3500" dirty="0"/>
              <a:t>Represented by a </a:t>
            </a:r>
            <a:r>
              <a:rPr lang="en-US" sz="3500" b="1" dirty="0">
                <a:solidFill>
                  <a:schemeClr val="tx2"/>
                </a:solidFill>
              </a:rPr>
              <a:t>Hookean Force </a:t>
            </a:r>
            <a:r>
              <a:rPr lang="en-US" sz="3500" dirty="0"/>
              <a:t>(F=-</a:t>
            </a:r>
            <a:r>
              <a:rPr lang="en-US" sz="3500" dirty="0" err="1"/>
              <a:t>kx</a:t>
            </a:r>
            <a:r>
              <a:rPr lang="en-US" sz="3500" dirty="0"/>
              <a:t>)</a:t>
            </a:r>
          </a:p>
          <a:p>
            <a:pPr marL="0" indent="0">
              <a:buNone/>
            </a:pPr>
            <a:endParaRPr lang="en-US" sz="3500" b="1" dirty="0">
              <a:solidFill>
                <a:srgbClr val="FF0000"/>
              </a:solidFill>
            </a:endParaRPr>
          </a:p>
          <a:p>
            <a:endParaRPr lang="en-US" sz="3200" dirty="0"/>
          </a:p>
        </p:txBody>
      </p:sp>
      <p:sp>
        <p:nvSpPr>
          <p:cNvPr id="4" name="TextBox 3">
            <a:extLst>
              <a:ext uri="{FF2B5EF4-FFF2-40B4-BE49-F238E27FC236}">
                <a16:creationId xmlns:a16="http://schemas.microsoft.com/office/drawing/2014/main" id="{F76D8CBC-4ADA-203E-2AE6-3527E6ABB36E}"/>
              </a:ext>
            </a:extLst>
          </p:cNvPr>
          <p:cNvSpPr txBox="1"/>
          <p:nvPr/>
        </p:nvSpPr>
        <p:spPr>
          <a:xfrm>
            <a:off x="2868460" y="5633010"/>
            <a:ext cx="6084009" cy="923330"/>
          </a:xfrm>
          <a:prstGeom prst="rect">
            <a:avLst/>
          </a:prstGeom>
          <a:noFill/>
        </p:spPr>
        <p:txBody>
          <a:bodyPr wrap="square" rtlCol="0">
            <a:spAutoFit/>
          </a:bodyPr>
          <a:lstStyle/>
          <a:p>
            <a:r>
              <a:rPr lang="en-US" sz="1200" dirty="0">
                <a:solidFill>
                  <a:srgbClr val="1B1B1B"/>
                </a:solidFill>
                <a:latin typeface="Roboto Mono Web"/>
              </a:rPr>
              <a:t>[1] </a:t>
            </a:r>
            <a:r>
              <a:rPr lang="en-US" sz="1200" dirty="0" err="1">
                <a:solidFill>
                  <a:srgbClr val="1B1B1B"/>
                </a:solidFill>
                <a:latin typeface="Roboto Mono Web"/>
              </a:rPr>
              <a:t>Yurchenco</a:t>
            </a:r>
            <a:r>
              <a:rPr lang="en-US" sz="1200" dirty="0">
                <a:solidFill>
                  <a:srgbClr val="1B1B1B"/>
                </a:solidFill>
                <a:latin typeface="Roboto Mono Web"/>
              </a:rPr>
              <a:t> PD, Patton BL. Developmental and pathogenic mechanisms of basement membrane assembly. Curr Pharm Des. 2009;15(12):1277-94. </a:t>
            </a:r>
            <a:r>
              <a:rPr lang="en-US" sz="1200" dirty="0" err="1">
                <a:solidFill>
                  <a:srgbClr val="1B1B1B"/>
                </a:solidFill>
                <a:latin typeface="Roboto Mono Web"/>
              </a:rPr>
              <a:t>doi</a:t>
            </a:r>
            <a:r>
              <a:rPr lang="en-US" sz="1200" dirty="0">
                <a:solidFill>
                  <a:srgbClr val="1B1B1B"/>
                </a:solidFill>
                <a:latin typeface="Roboto Mono Web"/>
              </a:rPr>
              <a:t>: 10.2174/138161209787846766. PMID: 19355968; PMCID: PMC2978668.</a:t>
            </a:r>
          </a:p>
          <a:p>
            <a:endParaRPr lang="en-US" dirty="0"/>
          </a:p>
        </p:txBody>
      </p:sp>
    </p:spTree>
    <p:extLst>
      <p:ext uri="{BB962C8B-B14F-4D97-AF65-F5344CB8AC3E}">
        <p14:creationId xmlns:p14="http://schemas.microsoft.com/office/powerpoint/2010/main" val="3432670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196E-86F8-C57B-BBE3-7B0B597AAAD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B4D4769-2D9B-4109-45AD-30C6C2B68C9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Cell-BM Interactions</a:t>
            </a:r>
          </a:p>
        </p:txBody>
      </p:sp>
      <p:cxnSp>
        <p:nvCxnSpPr>
          <p:cNvPr id="5" name="Straight Connector 4">
            <a:extLst>
              <a:ext uri="{FF2B5EF4-FFF2-40B4-BE49-F238E27FC236}">
                <a16:creationId xmlns:a16="http://schemas.microsoft.com/office/drawing/2014/main" id="{D53766FA-8E89-3E2C-A930-91B65AF195C7}"/>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482BD01-A780-FD09-25E7-811597A2EB01}"/>
              </a:ext>
            </a:extLst>
          </p:cNvPr>
          <p:cNvPicPr>
            <a:picLocks noChangeAspect="1"/>
          </p:cNvPicPr>
          <p:nvPr/>
        </p:nvPicPr>
        <p:blipFill>
          <a:blip r:embed="rId3"/>
          <a:srcRect l="5000" r="15479" b="6311"/>
          <a:stretch>
            <a:fillRect/>
          </a:stretch>
        </p:blipFill>
        <p:spPr>
          <a:xfrm>
            <a:off x="4180345" y="1718628"/>
            <a:ext cx="4582178" cy="3779013"/>
          </a:xfrm>
          <a:prstGeom prst="rect">
            <a:avLst/>
          </a:prstGeom>
        </p:spPr>
      </p:pic>
      <p:sp>
        <p:nvSpPr>
          <p:cNvPr id="7" name="Content Placeholder 2">
            <a:extLst>
              <a:ext uri="{FF2B5EF4-FFF2-40B4-BE49-F238E27FC236}">
                <a16:creationId xmlns:a16="http://schemas.microsoft.com/office/drawing/2014/main" id="{DE04E411-9D6A-B0DF-258A-EFDD2F66334E}"/>
              </a:ext>
            </a:extLst>
          </p:cNvPr>
          <p:cNvSpPr txBox="1">
            <a:spLocks/>
          </p:cNvSpPr>
          <p:nvPr/>
        </p:nvSpPr>
        <p:spPr>
          <a:xfrm>
            <a:off x="457200" y="1718628"/>
            <a:ext cx="3723145"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has </a:t>
            </a:r>
            <a:r>
              <a:rPr lang="en-US" sz="3500" b="1" dirty="0">
                <a:solidFill>
                  <a:schemeClr val="tx2"/>
                </a:solidFill>
              </a:rPr>
              <a:t>elastic</a:t>
            </a:r>
            <a:r>
              <a:rPr lang="en-US" sz="3500" dirty="0"/>
              <a:t> properties [2]</a:t>
            </a:r>
          </a:p>
          <a:p>
            <a:r>
              <a:rPr lang="en-US" sz="3200" dirty="0"/>
              <a:t>Elasticity is </a:t>
            </a:r>
            <a:r>
              <a:rPr lang="en-US" sz="3200" b="1" dirty="0">
                <a:solidFill>
                  <a:schemeClr val="tx2"/>
                </a:solidFill>
              </a:rPr>
              <a:t>non-linear </a:t>
            </a:r>
            <a:r>
              <a:rPr lang="en-US" sz="3200" dirty="0"/>
              <a:t>[3]</a:t>
            </a:r>
          </a:p>
          <a:p>
            <a:pPr lvl="1"/>
            <a:r>
              <a:rPr lang="en-US" sz="2900" dirty="0"/>
              <a:t>More deformation requires more force</a:t>
            </a:r>
          </a:p>
          <a:p>
            <a:endParaRPr lang="en-US" sz="3200" dirty="0"/>
          </a:p>
        </p:txBody>
      </p:sp>
      <p:sp>
        <p:nvSpPr>
          <p:cNvPr id="2" name="TextBox 1">
            <a:extLst>
              <a:ext uri="{FF2B5EF4-FFF2-40B4-BE49-F238E27FC236}">
                <a16:creationId xmlns:a16="http://schemas.microsoft.com/office/drawing/2014/main" id="{1700A5D5-ADBD-8BBD-CB27-F76B67F1F06E}"/>
              </a:ext>
            </a:extLst>
          </p:cNvPr>
          <p:cNvSpPr txBox="1"/>
          <p:nvPr/>
        </p:nvSpPr>
        <p:spPr>
          <a:xfrm>
            <a:off x="2680569" y="5604224"/>
            <a:ext cx="6425852" cy="1061829"/>
          </a:xfrm>
          <a:prstGeom prst="rect">
            <a:avLst/>
          </a:prstGeom>
          <a:noFill/>
        </p:spPr>
        <p:txBody>
          <a:bodyPr wrap="square" rtlCol="0">
            <a:spAutoFit/>
          </a:bodyPr>
          <a:lstStyle/>
          <a:p>
            <a:r>
              <a:rPr lang="en-US" sz="1050" dirty="0">
                <a:solidFill>
                  <a:srgbClr val="1B1B1B"/>
                </a:solidFill>
                <a:latin typeface="Roboto Mono Web"/>
              </a:rPr>
              <a:t>[2] H. Li, Y. Zheng, Y.L. Han, S. Cai, &amp; M. Guo, Nonlinear elasticity of biological basement membrane revealed by rapid inflation and deflation, Proc. Natl. Acad. Sci. U.S.A. 118 (11) e2022422118, https://doi.org/10.1073/pnas.2022422118 (2021).</a:t>
            </a:r>
          </a:p>
          <a:p>
            <a:endParaRPr lang="en-US" sz="1050" dirty="0">
              <a:solidFill>
                <a:srgbClr val="1B1B1B"/>
              </a:solidFill>
              <a:latin typeface="Roboto Mono Web"/>
            </a:endParaRPr>
          </a:p>
          <a:p>
            <a:r>
              <a:rPr lang="en-US" sz="1050" dirty="0"/>
              <a:t>[3] Guerra </a:t>
            </a:r>
            <a:r>
              <a:rPr lang="en-US" sz="1050" dirty="0" err="1"/>
              <a:t>Santillán</a:t>
            </a:r>
            <a:r>
              <a:rPr lang="en-US" sz="1050" dirty="0"/>
              <a:t> KY, </a:t>
            </a:r>
            <a:r>
              <a:rPr lang="en-US" sz="1050" dirty="0" err="1"/>
              <a:t>Dahmann</a:t>
            </a:r>
            <a:r>
              <a:rPr lang="en-US" sz="1050" dirty="0"/>
              <a:t> C, Fischer-Friedrich E. Elastic Contractile Stress in the Basement Membrane Generates Basal Tension in Epithelia. PRX Life. 2024;2(1):013004. doi:10.1103/PRXLife.2.013004</a:t>
            </a:r>
            <a:endParaRPr lang="en-US" sz="1050" dirty="0">
              <a:solidFill>
                <a:srgbClr val="1B1B1B"/>
              </a:solidFill>
              <a:latin typeface="Roboto Mono Web"/>
            </a:endParaRPr>
          </a:p>
        </p:txBody>
      </p:sp>
    </p:spTree>
    <p:extLst>
      <p:ext uri="{BB962C8B-B14F-4D97-AF65-F5344CB8AC3E}">
        <p14:creationId xmlns:p14="http://schemas.microsoft.com/office/powerpoint/2010/main" val="2854264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CD3C-FB4F-D50E-1D8C-4845A0BF752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8397271-60E8-4F00-F75D-30C9EB8C286E}"/>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Cell-BM Interactions</a:t>
            </a:r>
          </a:p>
        </p:txBody>
      </p:sp>
      <p:cxnSp>
        <p:nvCxnSpPr>
          <p:cNvPr id="5" name="Straight Connector 4">
            <a:extLst>
              <a:ext uri="{FF2B5EF4-FFF2-40B4-BE49-F238E27FC236}">
                <a16:creationId xmlns:a16="http://schemas.microsoft.com/office/drawing/2014/main" id="{3F925189-EE50-1C99-3C70-A3E828108B1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4EDA49F-D1BE-029B-16F1-9BA124E35420}"/>
              </a:ext>
            </a:extLst>
          </p:cNvPr>
          <p:cNvPicPr>
            <a:picLocks noChangeAspect="1"/>
          </p:cNvPicPr>
          <p:nvPr/>
        </p:nvPicPr>
        <p:blipFill>
          <a:blip r:embed="rId3"/>
          <a:srcRect l="5000" r="15479" b="6311"/>
          <a:stretch>
            <a:fillRect/>
          </a:stretch>
        </p:blipFill>
        <p:spPr>
          <a:xfrm>
            <a:off x="4180345" y="1853997"/>
            <a:ext cx="4582178" cy="3779013"/>
          </a:xfrm>
          <a:prstGeom prst="rect">
            <a:avLst/>
          </a:prstGeom>
        </p:spPr>
      </p:pic>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1A4300AF-BF56-E8B5-CFF0-187877E41986}"/>
                  </a:ext>
                </a:extLst>
              </p:cNvPr>
              <p:cNvSpPr txBox="1">
                <a:spLocks/>
              </p:cNvSpPr>
              <p:nvPr/>
            </p:nvSpPr>
            <p:spPr>
              <a:xfrm>
                <a:off x="457199" y="1718628"/>
                <a:ext cx="4582177" cy="335441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200" dirty="0"/>
                  <a:t>Proposed equation [3]</a:t>
                </a:r>
              </a:p>
              <a:p>
                <a:endParaRPr lang="en-US" sz="2600" dirty="0"/>
              </a:p>
              <a:p>
                <a:pPr marL="0" indent="0">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𝜎</m:t>
                      </m:r>
                      <m:r>
                        <a:rPr lang="en-US" sz="2600" b="0" i="1" smtClean="0">
                          <a:latin typeface="Cambria Math" panose="02040503050406030204" pitchFamily="18" charset="0"/>
                        </a:rPr>
                        <m:t>=</m:t>
                      </m:r>
                      <m:r>
                        <a:rPr lang="en-US" sz="2600" b="0" i="1" smtClean="0">
                          <a:latin typeface="Cambria Math" panose="02040503050406030204" pitchFamily="18" charset="0"/>
                        </a:rPr>
                        <m:t>𝐺</m:t>
                      </m:r>
                      <m:d>
                        <m:dPr>
                          <m:ctrlPr>
                            <a:rPr lang="en-US" sz="2600" b="0" i="1" smtClean="0">
                              <a:latin typeface="Cambria Math" panose="02040503050406030204" pitchFamily="18" charset="0"/>
                            </a:rPr>
                          </m:ctrlPr>
                        </m:dPr>
                        <m:e>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2</m:t>
                              </m:r>
                            </m:sup>
                          </m:sSup>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−1</m:t>
                              </m:r>
                            </m:sup>
                          </m:sSup>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𝑒</m:t>
                          </m:r>
                        </m:e>
                        <m:sup>
                          <m:r>
                            <a:rPr lang="en-US" sz="2600" b="0" i="1" smtClean="0">
                              <a:latin typeface="Cambria Math" panose="02040503050406030204" pitchFamily="18" charset="0"/>
                            </a:rPr>
                            <m:t>𝑏</m:t>
                          </m:r>
                          <m:d>
                            <m:dPr>
                              <m:ctrlPr>
                                <a:rPr lang="en-US" sz="2600" b="0" i="1" smtClean="0">
                                  <a:latin typeface="Cambria Math" panose="02040503050406030204" pitchFamily="18" charset="0"/>
                                </a:rPr>
                              </m:ctrlPr>
                            </m:dPr>
                            <m:e>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2</m:t>
                                  </m:r>
                                </m:sup>
                              </m:sSup>
                              <m:r>
                                <a:rPr lang="en-US" sz="2600" b="0" i="1" smtClean="0">
                                  <a:latin typeface="Cambria Math" panose="02040503050406030204" pitchFamily="18" charset="0"/>
                                </a:rPr>
                                <m:t>+2</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−3</m:t>
                              </m:r>
                            </m:e>
                          </m:d>
                        </m:sup>
                      </m:sSup>
                    </m:oMath>
                  </m:oMathPara>
                </a14:m>
                <a:endParaRPr lang="en-US" sz="2600" dirty="0"/>
              </a:p>
              <a:p>
                <a:pPr marL="0" indent="0">
                  <a:buNone/>
                </a:pPr>
                <a:endParaRPr lang="en-US" sz="2600" dirty="0"/>
              </a:p>
              <a:p>
                <a:pPr marL="0" indent="0">
                  <a:buNone/>
                </a:pPr>
                <a:r>
                  <a:rPr lang="en-US" sz="2600" dirty="0"/>
                  <a:t>G - initial stiffness</a:t>
                </a:r>
              </a:p>
              <a:p>
                <a:pPr marL="0" indent="0">
                  <a:buNone/>
                </a:pPr>
                <a:r>
                  <a:rPr lang="en-US" sz="2600" dirty="0"/>
                  <a:t>b - stiffness parameter</a:t>
                </a:r>
              </a:p>
            </p:txBody>
          </p:sp>
        </mc:Choice>
        <mc:Fallback>
          <p:sp>
            <p:nvSpPr>
              <p:cNvPr id="7" name="Content Placeholder 2">
                <a:extLst>
                  <a:ext uri="{FF2B5EF4-FFF2-40B4-BE49-F238E27FC236}">
                    <a16:creationId xmlns:a16="http://schemas.microsoft.com/office/drawing/2014/main" id="{1A4300AF-BF56-E8B5-CFF0-187877E41986}"/>
                  </a:ext>
                </a:extLst>
              </p:cNvPr>
              <p:cNvSpPr txBox="1">
                <a:spLocks noRot="1" noChangeAspect="1" noMove="1" noResize="1" noEditPoints="1" noAdjustHandles="1" noChangeArrowheads="1" noChangeShapeType="1" noTextEdit="1"/>
              </p:cNvSpPr>
              <p:nvPr/>
            </p:nvSpPr>
            <p:spPr>
              <a:xfrm>
                <a:off x="457199" y="1718628"/>
                <a:ext cx="4582177" cy="3354412"/>
              </a:xfrm>
              <a:prstGeom prst="rect">
                <a:avLst/>
              </a:prstGeom>
              <a:blipFill>
                <a:blip r:embed="rId4"/>
                <a:stretch>
                  <a:fillRect l="-3059" t="-381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0E1A0C0-79D0-65B0-D22E-2AB392684E7E}"/>
              </a:ext>
            </a:extLst>
          </p:cNvPr>
          <p:cNvSpPr txBox="1"/>
          <p:nvPr/>
        </p:nvSpPr>
        <p:spPr>
          <a:xfrm>
            <a:off x="2981195" y="5823434"/>
            <a:ext cx="5874706" cy="877163"/>
          </a:xfrm>
          <a:prstGeom prst="rect">
            <a:avLst/>
          </a:prstGeom>
          <a:noFill/>
        </p:spPr>
        <p:txBody>
          <a:bodyPr wrap="square" rtlCol="0">
            <a:spAutoFit/>
          </a:bodyPr>
          <a:lstStyle/>
          <a:p>
            <a:r>
              <a:rPr lang="en-US" sz="110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dirty="0"/>
          </a:p>
        </p:txBody>
      </p:sp>
    </p:spTree>
    <p:extLst>
      <p:ext uri="{BB962C8B-B14F-4D97-AF65-F5344CB8AC3E}">
        <p14:creationId xmlns:p14="http://schemas.microsoft.com/office/powerpoint/2010/main" val="322907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D94E-2E58-C319-9E34-B67D96D68E5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CE4C788-394B-205E-F88A-725D97CCC54F}"/>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Repulsive Force</a:t>
            </a:r>
          </a:p>
        </p:txBody>
      </p:sp>
      <p:cxnSp>
        <p:nvCxnSpPr>
          <p:cNvPr id="5" name="Straight Connector 4">
            <a:extLst>
              <a:ext uri="{FF2B5EF4-FFF2-40B4-BE49-F238E27FC236}">
                <a16:creationId xmlns:a16="http://schemas.microsoft.com/office/drawing/2014/main" id="{24BC1CA8-DBCE-F914-4917-D924A89B9F96}"/>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48D79D2-48BF-4A30-AF82-F0A233494F31}"/>
              </a:ext>
            </a:extLst>
          </p:cNvPr>
          <p:cNvPicPr>
            <a:picLocks noChangeAspect="1"/>
          </p:cNvPicPr>
          <p:nvPr/>
        </p:nvPicPr>
        <p:blipFill>
          <a:blip r:embed="rId3"/>
          <a:srcRect l="19179" b="6341"/>
          <a:stretch>
            <a:fillRect/>
          </a:stretch>
        </p:blipFill>
        <p:spPr>
          <a:xfrm>
            <a:off x="4333893" y="2118054"/>
            <a:ext cx="4618576" cy="3746491"/>
          </a:xfrm>
          <a:prstGeom prst="rect">
            <a:avLst/>
          </a:prstGeom>
        </p:spPr>
      </p:pic>
      <p:sp>
        <p:nvSpPr>
          <p:cNvPr id="3" name="Content Placeholder 2">
            <a:extLst>
              <a:ext uri="{FF2B5EF4-FFF2-40B4-BE49-F238E27FC236}">
                <a16:creationId xmlns:a16="http://schemas.microsoft.com/office/drawing/2014/main" id="{FA85885A-AD1C-108F-5F14-0EF3EB559ABA}"/>
              </a:ext>
            </a:extLst>
          </p:cNvPr>
          <p:cNvSpPr txBox="1">
            <a:spLocks/>
          </p:cNvSpPr>
          <p:nvPr/>
        </p:nvSpPr>
        <p:spPr>
          <a:xfrm>
            <a:off x="457199" y="1788090"/>
            <a:ext cx="3723145"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serves as a </a:t>
            </a:r>
            <a:r>
              <a:rPr lang="en-US" sz="3500" b="1" dirty="0">
                <a:solidFill>
                  <a:schemeClr val="tx2"/>
                </a:solidFill>
              </a:rPr>
              <a:t>physical barrier</a:t>
            </a:r>
          </a:p>
          <a:p>
            <a:r>
              <a:rPr lang="en-US" sz="3500" dirty="0"/>
              <a:t>Rupturing of membrane needs to be refined</a:t>
            </a:r>
          </a:p>
          <a:p>
            <a:endParaRPr lang="en-US" sz="3200" dirty="0"/>
          </a:p>
        </p:txBody>
      </p:sp>
    </p:spTree>
    <p:extLst>
      <p:ext uri="{BB962C8B-B14F-4D97-AF65-F5344CB8AC3E}">
        <p14:creationId xmlns:p14="http://schemas.microsoft.com/office/powerpoint/2010/main" val="360646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DA79-EB81-1AE8-53C7-4C82E7DA4F6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30FDC25-5EDB-BD22-8DC7-07CF81E2E720}"/>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Fibroblasts Interactions</a:t>
            </a:r>
          </a:p>
        </p:txBody>
      </p:sp>
      <p:cxnSp>
        <p:nvCxnSpPr>
          <p:cNvPr id="5" name="Straight Connector 4">
            <a:extLst>
              <a:ext uri="{FF2B5EF4-FFF2-40B4-BE49-F238E27FC236}">
                <a16:creationId xmlns:a16="http://schemas.microsoft.com/office/drawing/2014/main" id="{A4EA32A1-3FB2-5B01-D438-64EBF5F45EAA}"/>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0BE2CBB-BD84-F35D-55A5-4C003BD8C36F}"/>
              </a:ext>
            </a:extLst>
          </p:cNvPr>
          <p:cNvPicPr>
            <a:picLocks noChangeAspect="1"/>
          </p:cNvPicPr>
          <p:nvPr/>
        </p:nvPicPr>
        <p:blipFill>
          <a:blip r:embed="rId3"/>
          <a:srcRect l="19179" b="6341"/>
          <a:stretch>
            <a:fillRect/>
          </a:stretch>
        </p:blipFill>
        <p:spPr>
          <a:xfrm>
            <a:off x="4333893" y="2118054"/>
            <a:ext cx="4618576" cy="3746491"/>
          </a:xfrm>
          <a:prstGeom prst="rect">
            <a:avLst/>
          </a:prstGeom>
        </p:spPr>
      </p:pic>
      <p:sp>
        <p:nvSpPr>
          <p:cNvPr id="3" name="Content Placeholder 2">
            <a:extLst>
              <a:ext uri="{FF2B5EF4-FFF2-40B4-BE49-F238E27FC236}">
                <a16:creationId xmlns:a16="http://schemas.microsoft.com/office/drawing/2014/main" id="{6A08628D-79D5-4A66-D6A5-6FDFFD549388}"/>
              </a:ext>
            </a:extLst>
          </p:cNvPr>
          <p:cNvSpPr txBox="1">
            <a:spLocks/>
          </p:cNvSpPr>
          <p:nvPr/>
        </p:nvSpPr>
        <p:spPr>
          <a:xfrm>
            <a:off x="457199" y="1788090"/>
            <a:ext cx="3723145"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can be effect by </a:t>
            </a:r>
            <a:r>
              <a:rPr lang="en-US" sz="3500" b="1" dirty="0">
                <a:solidFill>
                  <a:schemeClr val="tx2"/>
                </a:solidFill>
              </a:rPr>
              <a:t>CAFs </a:t>
            </a:r>
            <a:r>
              <a:rPr lang="en-US" sz="3500" dirty="0"/>
              <a:t>(Cancer associated fibroblasts)</a:t>
            </a:r>
          </a:p>
          <a:p>
            <a:r>
              <a:rPr lang="en-US" sz="3500" dirty="0"/>
              <a:t>Secreted enzymes </a:t>
            </a:r>
            <a:r>
              <a:rPr lang="en-US" sz="3500" b="1" dirty="0">
                <a:solidFill>
                  <a:schemeClr val="tx2"/>
                </a:solidFill>
              </a:rPr>
              <a:t>weaken</a:t>
            </a:r>
            <a:r>
              <a:rPr lang="en-US" sz="3500" dirty="0"/>
              <a:t> BM</a:t>
            </a:r>
          </a:p>
          <a:p>
            <a:endParaRPr lang="en-US" sz="3200" dirty="0"/>
          </a:p>
        </p:txBody>
      </p:sp>
      <p:sp>
        <p:nvSpPr>
          <p:cNvPr id="4" name="TextBox 3">
            <a:extLst>
              <a:ext uri="{FF2B5EF4-FFF2-40B4-BE49-F238E27FC236}">
                <a16:creationId xmlns:a16="http://schemas.microsoft.com/office/drawing/2014/main" id="{11C4DDFD-490F-A4C2-5A01-688D47A33A6C}"/>
              </a:ext>
            </a:extLst>
          </p:cNvPr>
          <p:cNvSpPr txBox="1"/>
          <p:nvPr/>
        </p:nvSpPr>
        <p:spPr>
          <a:xfrm>
            <a:off x="2949203" y="5980837"/>
            <a:ext cx="6003266" cy="877163"/>
          </a:xfrm>
          <a:prstGeom prst="rect">
            <a:avLst/>
          </a:prstGeom>
          <a:noFill/>
        </p:spPr>
        <p:txBody>
          <a:bodyPr wrap="square" rtlCol="0">
            <a:spAutoFit/>
          </a:bodyPr>
          <a:lstStyle/>
          <a:p>
            <a:r>
              <a:rPr lang="en-US" sz="1100" dirty="0"/>
              <a:t>[4] Schneiderhan W, Korpal M, Hinz J, et al. Pancreatic stellate cells are an important source of MMP-2 in human pancreatic cancer and accelerate tumor cell invasion. </a:t>
            </a:r>
            <a:r>
              <a:rPr lang="en-US" sz="1100" i="1" dirty="0"/>
              <a:t>Gut</a:t>
            </a:r>
            <a:r>
              <a:rPr lang="en-US" sz="1100" dirty="0"/>
              <a:t>. 2007;56(6):823-830. doi:10.1136/gut.2006.104217</a:t>
            </a:r>
            <a:endParaRPr lang="en-US" sz="1100" dirty="0">
              <a:solidFill>
                <a:srgbClr val="1B1B1B"/>
              </a:solidFill>
              <a:latin typeface="Roboto Mono Web"/>
            </a:endParaRPr>
          </a:p>
          <a:p>
            <a:endParaRPr lang="en-US" dirty="0"/>
          </a:p>
        </p:txBody>
      </p:sp>
    </p:spTree>
    <p:extLst>
      <p:ext uri="{BB962C8B-B14F-4D97-AF65-F5344CB8AC3E}">
        <p14:creationId xmlns:p14="http://schemas.microsoft.com/office/powerpoint/2010/main" val="366829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487A-FFFE-C060-7FDD-34D3E433B8F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7E757D7-2538-0610-6B08-436D45D3EF85}"/>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Citations</a:t>
            </a:r>
          </a:p>
        </p:txBody>
      </p:sp>
      <p:cxnSp>
        <p:nvCxnSpPr>
          <p:cNvPr id="5" name="Straight Connector 4">
            <a:extLst>
              <a:ext uri="{FF2B5EF4-FFF2-40B4-BE49-F238E27FC236}">
                <a16:creationId xmlns:a16="http://schemas.microsoft.com/office/drawing/2014/main" id="{277FBDE3-D045-EB92-C9A3-1DAB82684AE3}"/>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B55C810-A69C-9760-96C0-D69C65607F6F}"/>
              </a:ext>
            </a:extLst>
          </p:cNvPr>
          <p:cNvSpPr txBox="1"/>
          <p:nvPr/>
        </p:nvSpPr>
        <p:spPr>
          <a:xfrm>
            <a:off x="457199" y="1480498"/>
            <a:ext cx="8495269" cy="6001643"/>
          </a:xfrm>
          <a:prstGeom prst="rect">
            <a:avLst/>
          </a:prstGeom>
          <a:noFill/>
        </p:spPr>
        <p:txBody>
          <a:bodyPr wrap="square">
            <a:spAutoFit/>
          </a:bodyPr>
          <a:lstStyle/>
          <a:p>
            <a:r>
              <a:rPr lang="en-US" sz="1600" b="0" i="0" dirty="0">
                <a:solidFill>
                  <a:srgbClr val="1B1B1B"/>
                </a:solidFill>
                <a:effectLst/>
                <a:latin typeface="Roboto Mono Web"/>
              </a:rPr>
              <a:t>[1] </a:t>
            </a:r>
            <a:r>
              <a:rPr lang="en-US" sz="1600" b="0" i="0" dirty="0" err="1">
                <a:solidFill>
                  <a:srgbClr val="1B1B1B"/>
                </a:solidFill>
                <a:effectLst/>
                <a:latin typeface="Roboto Mono Web"/>
              </a:rPr>
              <a:t>Yurchenco</a:t>
            </a:r>
            <a:r>
              <a:rPr lang="en-US" sz="1600" b="0" i="0" dirty="0">
                <a:solidFill>
                  <a:srgbClr val="1B1B1B"/>
                </a:solidFill>
                <a:effectLst/>
                <a:latin typeface="Roboto Mono Web"/>
              </a:rPr>
              <a:t> PD, Patton BL. Developmental and pathogenic mechanisms of basement membrane assembly. Curr Pharm Des. 2009;15(12):1277-94. </a:t>
            </a:r>
            <a:r>
              <a:rPr lang="en-US" sz="1600" b="0" i="0" dirty="0" err="1">
                <a:solidFill>
                  <a:srgbClr val="1B1B1B"/>
                </a:solidFill>
                <a:effectLst/>
                <a:latin typeface="Roboto Mono Web"/>
              </a:rPr>
              <a:t>doi</a:t>
            </a:r>
            <a:r>
              <a:rPr lang="en-US" sz="1600" b="0" i="0" dirty="0">
                <a:solidFill>
                  <a:srgbClr val="1B1B1B"/>
                </a:solidFill>
                <a:effectLst/>
                <a:latin typeface="Roboto Mono Web"/>
              </a:rPr>
              <a:t>: 10.2174/138161209787846766. PMID: 19355968; PMCID: PMC2978668.</a:t>
            </a:r>
          </a:p>
          <a:p>
            <a:endParaRPr lang="en-US" sz="1600" dirty="0">
              <a:solidFill>
                <a:srgbClr val="1B1B1B"/>
              </a:solidFill>
              <a:latin typeface="Roboto Mono Web"/>
            </a:endParaRPr>
          </a:p>
          <a:p>
            <a:r>
              <a:rPr lang="en-US" sz="1600" dirty="0"/>
              <a:t>[2] Guerra </a:t>
            </a:r>
            <a:r>
              <a:rPr lang="en-US" sz="1600" dirty="0" err="1"/>
              <a:t>Santillán</a:t>
            </a:r>
            <a:r>
              <a:rPr lang="en-US" sz="1600" dirty="0"/>
              <a:t> KY, </a:t>
            </a:r>
            <a:r>
              <a:rPr lang="en-US" sz="1600" dirty="0" err="1"/>
              <a:t>Dahmann</a:t>
            </a:r>
            <a:r>
              <a:rPr lang="en-US" sz="1600" dirty="0"/>
              <a:t> C, Fischer-Friedrich E. Elastic Contractile Stress in the Basement Membrane Generates Basal Tension in Epithelia. PRX Life. 2024;2(1):013004. doi:10.1103/PRXLife.2.013004</a:t>
            </a:r>
            <a:endParaRPr lang="en-US" sz="1600" b="0" i="0" dirty="0">
              <a:solidFill>
                <a:srgbClr val="1B1B1B"/>
              </a:solidFill>
              <a:effectLst/>
              <a:latin typeface="Roboto Mono Web"/>
            </a:endParaRPr>
          </a:p>
          <a:p>
            <a:endParaRPr lang="en-US" sz="1600" dirty="0">
              <a:solidFill>
                <a:srgbClr val="1B1B1B"/>
              </a:solidFill>
              <a:latin typeface="Roboto Mono Web"/>
            </a:endParaRPr>
          </a:p>
          <a:p>
            <a:r>
              <a:rPr lang="en-US" sz="160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sz="1600" dirty="0">
              <a:solidFill>
                <a:srgbClr val="1B1B1B"/>
              </a:solidFill>
              <a:latin typeface="Roboto Mono Web"/>
            </a:endParaRPr>
          </a:p>
          <a:p>
            <a:r>
              <a:rPr lang="en-US" sz="1600" dirty="0"/>
              <a:t>[4] Schneiderhan W, Korpal M, Hinz J, et al. Pancreatic stellate cells are an important source of MMP-2 in human pancreatic cancer and accelerate tumor cell invasion. </a:t>
            </a:r>
            <a:r>
              <a:rPr lang="en-US" sz="1600" i="1" dirty="0"/>
              <a:t>Gut</a:t>
            </a:r>
            <a:r>
              <a:rPr lang="en-US" sz="1600" dirty="0"/>
              <a:t>. 2007;56(6):823-830. doi:10.1136/gut.2006.104217</a:t>
            </a:r>
            <a:endParaRPr lang="en-US" sz="1600"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p>
        </p:txBody>
      </p:sp>
    </p:spTree>
    <p:extLst>
      <p:ext uri="{BB962C8B-B14F-4D97-AF65-F5344CB8AC3E}">
        <p14:creationId xmlns:p14="http://schemas.microsoft.com/office/powerpoint/2010/main" val="3476320439"/>
      </p:ext>
    </p:extLst>
  </p:cSld>
  <p:clrMapOvr>
    <a:masterClrMapping/>
  </p:clrMapOvr>
</p:sld>
</file>

<file path=ppt/theme/theme1.xml><?xml version="1.0" encoding="utf-8"?>
<a:theme xmlns:a="http://schemas.openxmlformats.org/drawingml/2006/main" name="SOM Theme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M Theme 3">
  <a:themeElements>
    <a:clrScheme name="UMB Colors">
      <a:dk1>
        <a:srgbClr val="000000"/>
      </a:dk1>
      <a:lt1>
        <a:srgbClr val="FFFFFF"/>
      </a:lt1>
      <a:dk2>
        <a:srgbClr val="D81F37"/>
      </a:dk2>
      <a:lt2>
        <a:srgbClr val="95A1A9"/>
      </a:lt2>
      <a:accent1>
        <a:srgbClr val="D81F37"/>
      </a:accent1>
      <a:accent2>
        <a:srgbClr val="FED430"/>
      </a:accent2>
      <a:accent3>
        <a:srgbClr val="717375"/>
      </a:accent3>
      <a:accent4>
        <a:srgbClr val="107796"/>
      </a:accent4>
      <a:accent5>
        <a:srgbClr val="5F87A0"/>
      </a:accent5>
      <a:accent6>
        <a:srgbClr val="B4CB97"/>
      </a:accent6>
      <a:hlink>
        <a:srgbClr val="C7B08D"/>
      </a:hlink>
      <a:folHlink>
        <a:srgbClr val="6E4C5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Office Theme</Template>
  <TotalTime>41076</TotalTime>
  <Words>2393</Words>
  <Application>Microsoft Office PowerPoint</Application>
  <PresentationFormat>On-screen Show (4:3)</PresentationFormat>
  <Paragraphs>104</Paragraphs>
  <Slides>8</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Arial</vt:lpstr>
      <vt:lpstr>Calibri</vt:lpstr>
      <vt:lpstr>Calibri Light</vt:lpstr>
      <vt:lpstr>Cambria Math</vt:lpstr>
      <vt:lpstr>Helvetica</vt:lpstr>
      <vt:lpstr>Roboto Mono Web</vt:lpstr>
      <vt:lpstr>SOM Theme 1</vt:lpstr>
      <vt:lpstr>SOM Theme 3</vt:lpstr>
      <vt:lpstr>Agent-Based Modeling of the Ductal Structure in Pancreatic Precancer</vt:lpstr>
      <vt:lpstr>Model Forces</vt:lpstr>
      <vt:lpstr>BM-Cell Interactions</vt:lpstr>
      <vt:lpstr>Cell-BM Interactions</vt:lpstr>
      <vt:lpstr>Cell-BM Interactions</vt:lpstr>
      <vt:lpstr>Repulsive Force</vt:lpstr>
      <vt:lpstr>Fibroblasts Interactions</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Jeanette</dc:creator>
  <cp:lastModifiedBy>Yeagle, Cameron W.</cp:lastModifiedBy>
  <cp:revision>19</cp:revision>
  <dcterms:created xsi:type="dcterms:W3CDTF">2025-05-22T20:08:09Z</dcterms:created>
  <dcterms:modified xsi:type="dcterms:W3CDTF">2025-09-20T00:07:54Z</dcterms:modified>
</cp:coreProperties>
</file>